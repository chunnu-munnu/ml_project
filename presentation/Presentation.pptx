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530"/>
                </a:solidFill>
                <a:latin typeface="Calibri"/>
              </a:defRPr>
            </a:pPr>
            <a:r>
              <a:rPr sz="1300" b="0" i="0" u="none" strike="noStrike">
                <a:solidFill>
                  <a:srgbClr val="0B1530"/>
                </a:solidFill>
                <a:latin typeface="Calibri"/>
              </a:rPr>
              <a:t>Test accuracy on 0.9 s clips (%), chance 25%</a:t>
            </a:r>
          </a:p>
        </c:rich>
      </c:tx>
      <c:layout/>
      <c:overlay val="0"/>
    </c:title>
    <c:autoTitleDeleted val="0"/>
    <c:plotArea>
      <c:layout/>
      <c:barChart>
        <c:barDir val="col"/>
        <c:grouping val="clustered"/>
        <c:varyColors val="0"/>
        <c:ser>
          <c:idx val="0"/>
          <c:order val="0"/>
          <c:tx>
            <c:strRef>
              <c:f>Sheet1!$B$1</c:f>
              <c:strCache>
                <c:ptCount val="1"/>
                <c:pt idx="0">
                  <c:v>Paper reports</c:v>
                </c:pt>
              </c:strCache>
            </c:strRef>
          </c:tx>
          <c:spPr>
            <a:solidFill>
              <a:srgbClr val="9AA3BD"/>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Two Layer NN</c:v>
                  </c:pt>
                  <c:pt idx="1">
                    <c:v>Deep Softmax AE</c:v>
                  </c:pt>
                </c:lvl>
              </c:multiLvlStrCache>
            </c:multiLvlStrRef>
          </c:cat>
          <c:val>
            <c:numRef>
              <c:f>Sheet1!$B$2:$B$3</c:f>
              <c:numCache>
                <c:formatCode>General</c:formatCode>
                <c:ptCount val="2"/>
                <c:pt idx="0">
                  <c:v>36.4</c:v>
                </c:pt>
                <c:pt idx="1">
                  <c:v>65.3</c:v>
                </c:pt>
              </c:numCache>
            </c:numRef>
          </c:val>
        </c:ser>
        <c:ser>
          <c:idx val="1"/>
          <c:order val="1"/>
          <c:tx>
            <c:strRef>
              <c:f>Sheet1!$C$1</c:f>
              <c:strCache>
                <c:ptCount val="1"/>
                <c:pt idx="0">
                  <c:v>Ours, paper's random split</c:v>
                </c:pt>
              </c:strCache>
            </c:strRef>
          </c:tx>
          <c:spPr>
            <a:solidFill>
              <a:srgbClr val="3B4C99"/>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Two Layer NN</c:v>
                  </c:pt>
                  <c:pt idx="1">
                    <c:v>Deep Softmax AE</c:v>
                  </c:pt>
                </c:lvl>
              </c:multiLvlStrCache>
            </c:multiLvlStrRef>
          </c:cat>
          <c:val>
            <c:numRef>
              <c:f>Sheet1!$C$2:$C$3</c:f>
              <c:numCache>
                <c:formatCode>General</c:formatCode>
                <c:ptCount val="2"/>
                <c:pt idx="0">
                  <c:v>47</c:v>
                </c:pt>
                <c:pt idx="1">
                  <c:v>56.3</c:v>
                </c:pt>
              </c:numCache>
            </c:numRef>
          </c:val>
        </c:ser>
        <c:ser>
          <c:idx val="2"/>
          <c:order val="2"/>
          <c:tx>
            <c:strRef>
              <c:f>Sheet1!$D$1</c:f>
              <c:strCache>
                <c:ptCount val="1"/>
                <c:pt idx="0">
                  <c:v>Ours, unseen songs</c:v>
                </c:pt>
              </c:strCache>
            </c:strRef>
          </c:tx>
          <c:spPr>
            <a:solidFill>
              <a:srgbClr val="F5A524"/>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Two Layer NN</c:v>
                  </c:pt>
                  <c:pt idx="1">
                    <c:v>Deep Softmax AE</c:v>
                  </c:pt>
                </c:lvl>
              </c:multiLvlStrCache>
            </c:multiLvlStrRef>
          </c:cat>
          <c:val>
            <c:numRef>
              <c:f>Sheet1!$D$2:$D$3</c:f>
              <c:numCache>
                <c:formatCode>General</c:formatCode>
                <c:ptCount val="2"/>
                <c:pt idx="0">
                  <c:v>40.5</c:v>
                </c:pt>
                <c:pt idx="1">
                  <c:v>52.2</c:v>
                </c:pt>
              </c:numCache>
            </c:numRef>
          </c:val>
        </c:ser>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385"/>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DD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3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7224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530"/>
                </a:solidFill>
                <a:latin typeface="Calibri"/>
              </a:defRPr>
            </a:pPr>
            <a:r>
              <a:rPr sz="1300" b="0" i="0" u="none" strike="noStrike">
                <a:solidFill>
                  <a:srgbClr val="0B1530"/>
                </a:solidFill>
                <a:latin typeface="Calibri"/>
              </a:rPr>
              <a:t>Test accuracy on unseen songs (%)</a:t>
            </a:r>
          </a:p>
        </c:rich>
      </c:tx>
      <c:layout/>
      <c:overlay val="0"/>
    </c:title>
    <c:autoTitleDeleted val="0"/>
    <c:plotArea>
      <c:layout/>
      <c:barChart>
        <c:barDir val="col"/>
        <c:grouping val="clustered"/>
        <c:varyColors val="0"/>
        <c:ser>
          <c:idx val="0"/>
          <c:order val="0"/>
          <c:tx>
            <c:strRef>
              <c:f>Sheet1!$B$1</c:f>
              <c:strCache>
                <c:ptCount val="1"/>
                <c:pt idx="0">
                  <c:v>Fixed, lr 1e-4 (paper)</c:v>
                </c:pt>
              </c:strCache>
            </c:strRef>
          </c:tx>
          <c:spPr>
            <a:solidFill>
              <a:srgbClr val="9AA3BD"/>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Two Layer NN</c:v>
                  </c:pt>
                  <c:pt idx="1">
                    <c:v>Deep Softmax AE</c:v>
                  </c:pt>
                </c:lvl>
              </c:multiLvlStrCache>
            </c:multiLvlStrRef>
          </c:cat>
          <c:val>
            <c:numRef>
              <c:f>Sheet1!$B$2:$B$3</c:f>
              <c:numCache>
                <c:formatCode>General</c:formatCode>
                <c:ptCount val="2"/>
                <c:pt idx="0">
                  <c:v>40.5</c:v>
                </c:pt>
                <c:pt idx="1">
                  <c:v>52.2</c:v>
                </c:pt>
              </c:numCache>
            </c:numRef>
          </c:val>
        </c:ser>
        <c:ser>
          <c:idx val="1"/>
          <c:order val="1"/>
          <c:tx>
            <c:strRef>
              <c:f>Sheet1!$C$1</c:f>
              <c:strCache>
                <c:ptCount val="1"/>
                <c:pt idx="0">
                  <c:v>Fixed, lr 1e-3</c:v>
                </c:pt>
              </c:strCache>
            </c:strRef>
          </c:tx>
          <c:spPr>
            <a:solidFill>
              <a:srgbClr val="C9D2F0"/>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Two Layer NN</c:v>
                  </c:pt>
                  <c:pt idx="1">
                    <c:v>Deep Softmax AE</c:v>
                  </c:pt>
                </c:lvl>
              </c:multiLvlStrCache>
            </c:multiLvlStrRef>
          </c:cat>
          <c:val>
            <c:numRef>
              <c:f>Sheet1!$C$2:$C$3</c:f>
              <c:numCache>
                <c:formatCode>General</c:formatCode>
                <c:ptCount val="2"/>
                <c:pt idx="0">
                  <c:v>42.8</c:v>
                </c:pt>
                <c:pt idx="1">
                  <c:v>54.1</c:v>
                </c:pt>
              </c:numCache>
            </c:numRef>
          </c:val>
        </c:ser>
        <c:ser>
          <c:idx val="2"/>
          <c:order val="2"/>
          <c:tx>
            <c:strRef>
              <c:f>Sheet1!$D$1</c:f>
              <c:strCache>
                <c:ptCount val="1"/>
                <c:pt idx="0">
                  <c:v>Crops, lr 1e-4</c:v>
                </c:pt>
              </c:strCache>
            </c:strRef>
          </c:tx>
          <c:spPr>
            <a:solidFill>
              <a:srgbClr val="3B4C99"/>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Two Layer NN</c:v>
                  </c:pt>
                  <c:pt idx="1">
                    <c:v>Deep Softmax AE</c:v>
                  </c:pt>
                </c:lvl>
              </c:multiLvlStrCache>
            </c:multiLvlStrRef>
          </c:cat>
          <c:val>
            <c:numRef>
              <c:f>Sheet1!$D$2:$D$3</c:f>
              <c:numCache>
                <c:formatCode>General</c:formatCode>
                <c:ptCount val="2"/>
                <c:pt idx="0">
                  <c:v>43.1</c:v>
                </c:pt>
                <c:pt idx="1">
                  <c:v>62.3</c:v>
                </c:pt>
              </c:numCache>
            </c:numRef>
          </c:val>
        </c:ser>
        <c:ser>
          <c:idx val="3"/>
          <c:order val="3"/>
          <c:tx>
            <c:strRef>
              <c:f>Sheet1!$E$1</c:f>
              <c:strCache>
                <c:ptCount val="1"/>
                <c:pt idx="0">
                  <c:v>Crops, lr 1e-3 (ours)</c:v>
                </c:pt>
              </c:strCache>
            </c:strRef>
          </c:tx>
          <c:spPr>
            <a:solidFill>
              <a:srgbClr val="F5A524"/>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Sheet1!$A$2:$A$3</c:f>
              <c:multiLvlStrCache>
                <c:ptCount val="2"/>
                <c:lvl>
                  <c:pt idx="0">
                    <c:v>Two Layer NN</c:v>
                  </c:pt>
                  <c:pt idx="1">
                    <c:v>Deep Softmax AE</c:v>
                  </c:pt>
                </c:lvl>
              </c:multiLvlStrCache>
            </c:multiLvlStrRef>
          </c:cat>
          <c:val>
            <c:numRef>
              <c:f>Sheet1!$E$2:$E$3</c:f>
              <c:numCache>
                <c:formatCode>General</c:formatCode>
                <c:ptCount val="2"/>
                <c:pt idx="0">
                  <c:v>66.8</c:v>
                </c:pt>
                <c:pt idx="1">
                  <c:v>66.9</c:v>
                </c:pt>
              </c:numCache>
            </c:numRef>
          </c:val>
        </c:ser>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385"/>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DD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3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7224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530"/>
                </a:solidFill>
                <a:latin typeface="Calibri"/>
              </a:defRPr>
            </a:pPr>
            <a:r>
              <a:rPr sz="1300" b="0" i="0" u="none" strike="noStrike">
                <a:solidFill>
                  <a:srgbClr val="0B1530"/>
                </a:solidFill>
                <a:latin typeface="Calibri"/>
              </a:rPr>
              <a:t>Linear probe, test accuracy (%), unseen songs</a:t>
            </a:r>
          </a:p>
        </c:rich>
      </c:tx>
      <c:layout/>
      <c:overlay val="0"/>
    </c:title>
    <c:autoTitleDeleted val="0"/>
    <c:plotArea>
      <c:layout/>
      <c:barChart>
        <c:barDir val="bar"/>
        <c:grouping val="clustered"/>
        <c:varyColors val="0"/>
        <c:ser>
          <c:idx val="0"/>
          <c:order val="0"/>
          <c:tx>
            <c:strRef>
              <c:f>Sheet1!$B$1</c:f>
              <c:strCache>
                <c:ptCount val="1"/>
                <c:pt idx="0">
                  <c:v>Linear probe accuracy (%)</c:v>
                </c:pt>
              </c:strCache>
            </c:strRef>
          </c:tx>
          <c:spPr>
            <a:solidFill>
              <a:srgbClr val="3B4C99"/>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Loudness (1 number)</c:v>
                  </c:pt>
                  <c:pt idx="1">
                    <c:v>Raw input (500)</c:v>
                  </c:pt>
                  <c:pt idx="2">
                    <c:v>Vanilla AE (64)</c:v>
                  </c:pt>
                  <c:pt idx="3">
                    <c:v>DSAE (64)</c:v>
                  </c:pt>
                  <c:pt idx="4">
                    <c:v>DSAE + crops (64)</c:v>
                  </c:pt>
                </c:lvl>
              </c:multiLvlStrCache>
            </c:multiLvlStrRef>
          </c:cat>
          <c:val>
            <c:numRef>
              <c:f>Sheet1!$B$2:$B$6</c:f>
              <c:numCache>
                <c:formatCode>General</c:formatCode>
                <c:ptCount val="5"/>
                <c:pt idx="0">
                  <c:v>62</c:v>
                </c:pt>
                <c:pt idx="1">
                  <c:v>34.7</c:v>
                </c:pt>
                <c:pt idx="2">
                  <c:v>37.1</c:v>
                </c:pt>
                <c:pt idx="3">
                  <c:v>51</c:v>
                </c:pt>
                <c:pt idx="4">
                  <c:v>66.2</c:v>
                </c:pt>
              </c:numCache>
            </c:numRef>
          </c:val>
        </c:ser>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A6385"/>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6350" cap="flat">
              <a:solidFill>
                <a:srgbClr val="DDE2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A638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530"/>
                </a:solidFill>
                <a:latin typeface="Calibri"/>
              </a:defRPr>
            </a:pPr>
            <a:r>
              <a:rPr sz="1300" b="0" i="0" u="none" strike="noStrike">
                <a:solidFill>
                  <a:srgbClr val="0B1530"/>
                </a:solidFill>
                <a:latin typeface="Calibri"/>
              </a:rPr>
              <a:t>Results with the query's genre (%), chance 25%</a:t>
            </a:r>
          </a:p>
        </c:rich>
      </c:tx>
      <c:layout/>
      <c:overlay val="0"/>
    </c:title>
    <c:autoTitleDeleted val="0"/>
    <c:plotArea>
      <c:layout/>
      <c:barChart>
        <c:barDir val="col"/>
        <c:grouping val="clustered"/>
        <c:varyColors val="0"/>
        <c:ser>
          <c:idx val="0"/>
          <c:order val="0"/>
          <c:tx>
            <c:strRef>
              <c:f>Sheet1!$B$1</c:f>
              <c:strCache>
                <c:ptCount val="1"/>
                <c:pt idx="0">
                  <c:v>Top-1 (nearest song)</c:v>
                </c:pt>
              </c:strCache>
            </c:strRef>
          </c:tx>
          <c:spPr>
            <a:solidFill>
              <a:srgbClr val="F5A524"/>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Loudness</c:v>
                  </c:pt>
                  <c:pt idx="1">
                    <c:v>Vanilla AE</c:v>
                  </c:pt>
                  <c:pt idx="2">
                    <c:v>DSAE</c:v>
                  </c:pt>
                  <c:pt idx="3">
                    <c:v>DSAE + crops</c:v>
                  </c:pt>
                </c:lvl>
              </c:multiLvlStrCache>
            </c:multiLvlStrRef>
          </c:cat>
          <c:val>
            <c:numRef>
              <c:f>Sheet1!$B$2:$B$5</c:f>
              <c:numCache>
                <c:formatCode>General</c:formatCode>
                <c:ptCount val="4"/>
                <c:pt idx="0">
                  <c:v>58</c:v>
                </c:pt>
                <c:pt idx="1">
                  <c:v>41</c:v>
                </c:pt>
                <c:pt idx="2">
                  <c:v>59</c:v>
                </c:pt>
                <c:pt idx="3">
                  <c:v>68</c:v>
                </c:pt>
              </c:numCache>
            </c:numRef>
          </c:val>
        </c:ser>
        <c:ser>
          <c:idx val="1"/>
          <c:order val="1"/>
          <c:tx>
            <c:strRef>
              <c:f>Sheet1!$C$1</c:f>
              <c:strCache>
                <c:ptCount val="1"/>
                <c:pt idx="0">
                  <c:v>Precision@5</c:v>
                </c:pt>
              </c:strCache>
            </c:strRef>
          </c:tx>
          <c:spPr>
            <a:solidFill>
              <a:srgbClr val="3B4C99"/>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Sheet1!$A$2:$A$5</c:f>
              <c:multiLvlStrCache>
                <c:ptCount val="4"/>
                <c:lvl>
                  <c:pt idx="0">
                    <c:v>Loudness</c:v>
                  </c:pt>
                  <c:pt idx="1">
                    <c:v>Vanilla AE</c:v>
                  </c:pt>
                  <c:pt idx="2">
                    <c:v>DSAE</c:v>
                  </c:pt>
                  <c:pt idx="3">
                    <c:v>DSAE + crops</c:v>
                  </c:pt>
                </c:lvl>
              </c:multiLvlStrCache>
            </c:multiLvlStrRef>
          </c:cat>
          <c:val>
            <c:numRef>
              <c:f>Sheet1!$C$2:$C$5</c:f>
              <c:numCache>
                <c:formatCode>General</c:formatCode>
                <c:ptCount val="4"/>
                <c:pt idx="0">
                  <c:v>53</c:v>
                </c:pt>
                <c:pt idx="1">
                  <c:v>39.2</c:v>
                </c:pt>
                <c:pt idx="2">
                  <c:v>61.2</c:v>
                </c:pt>
                <c:pt idx="3">
                  <c:v>67</c:v>
                </c:pt>
              </c:numCache>
            </c:numRef>
          </c:val>
        </c:ser>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385"/>
                </a:solidFill>
                <a:latin typeface="Calibri"/>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6350" cap="flat">
              <a:solidFill>
                <a:srgbClr val="DD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3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7224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530"/>
                </a:solidFill>
                <a:latin typeface="Calibri"/>
              </a:defRPr>
            </a:pPr>
            <a:r>
              <a:rPr sz="1300" b="0" i="0" u="none" strike="noStrike">
                <a:solidFill>
                  <a:srgbClr val="0B1530"/>
                </a:solidFill>
                <a:latin typeface="Calibri"/>
              </a:rPr>
              <a:t>Paper-style DSAE on unseen songs, by γ</a:t>
            </a:r>
          </a:p>
        </c:rich>
      </c:tx>
      <c:layout/>
      <c:overlay val="0"/>
    </c:title>
    <c:autoTitleDeleted val="0"/>
    <c:plotArea>
      <c:layout/>
      <c:barChart>
        <c:barDir val="col"/>
        <c:grouping val="clustered"/>
        <c:varyColors val="0"/>
        <c:ser>
          <c:idx val="0"/>
          <c:order val="0"/>
          <c:tx>
            <c:strRef>
              <c:f>Sheet1!$B$1</c:f>
              <c:strCache>
                <c:ptCount val="1"/>
                <c:pt idx="0">
                  <c:v>Test accuracy (%)</c:v>
                </c:pt>
              </c:strCache>
            </c:strRef>
          </c:tx>
          <c:spPr>
            <a:solidFill>
              <a:srgbClr val="F5A524"/>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0</c:v>
                  </c:pt>
                  <c:pt idx="1">
                    <c:v>0.5</c:v>
                  </c:pt>
                  <c:pt idx="2">
                    <c:v>0.9</c:v>
                  </c:pt>
                  <c:pt idx="3">
                    <c:v>0.99</c:v>
                  </c:pt>
                  <c:pt idx="4">
                    <c:v>1</c:v>
                  </c:pt>
                </c:lvl>
              </c:multiLvlStrCache>
            </c:multiLvlStrRef>
          </c:cat>
          <c:val>
            <c:numRef>
              <c:f>Sheet1!$B$2:$B$6</c:f>
              <c:numCache>
                <c:formatCode>General</c:formatCode>
                <c:ptCount val="5"/>
                <c:pt idx="0">
                  <c:v>49.4</c:v>
                </c:pt>
                <c:pt idx="1">
                  <c:v>49.5</c:v>
                </c:pt>
                <c:pt idx="2">
                  <c:v>52.2</c:v>
                </c:pt>
                <c:pt idx="3">
                  <c:v>47.4</c:v>
                </c:pt>
                <c:pt idx="4">
                  <c:v>33.2</c:v>
                </c:pt>
              </c:numCache>
            </c:numRef>
          </c:val>
        </c:ser>
        <c:ser>
          <c:idx val="1"/>
          <c:order val="1"/>
          <c:tx>
            <c:strRef>
              <c:f>Sheet1!$C$1</c:f>
              <c:strCache>
                <c:ptCount val="1"/>
                <c:pt idx="0">
                  <c:v>Linear probe on encoding (%)</c:v>
                </c:pt>
              </c:strCache>
            </c:strRef>
          </c:tx>
          <c:spPr>
            <a:solidFill>
              <a:srgbClr val="3B4C99"/>
            </a:solidFill>
            <a:effectLst/>
          </c:spPr>
          <c:invertIfNegative val="0"/>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cat>
            <c:multiLvlStrRef>
              <c:f>Sheet1!$A$2:$A$6</c:f>
              <c:multiLvlStrCache>
                <c:ptCount val="5"/>
                <c:lvl>
                  <c:pt idx="0">
                    <c:v>0</c:v>
                  </c:pt>
                  <c:pt idx="1">
                    <c:v>0.5</c:v>
                  </c:pt>
                  <c:pt idx="2">
                    <c:v>0.9</c:v>
                  </c:pt>
                  <c:pt idx="3">
                    <c:v>0.99</c:v>
                  </c:pt>
                  <c:pt idx="4">
                    <c:v>1</c:v>
                  </c:pt>
                </c:lvl>
              </c:multiLvlStrCache>
            </c:multiLvlStrRef>
          </c:cat>
          <c:val>
            <c:numRef>
              <c:f>Sheet1!$C$2:$C$6</c:f>
              <c:numCache>
                <c:formatCode>General</c:formatCode>
                <c:ptCount val="5"/>
                <c:pt idx="0">
                  <c:v>47.4</c:v>
                </c:pt>
                <c:pt idx="1">
                  <c:v>48.6</c:v>
                </c:pt>
                <c:pt idx="2">
                  <c:v>51.3</c:v>
                </c:pt>
                <c:pt idx="3">
                  <c:v>45.3</c:v>
                </c:pt>
                <c:pt idx="4">
                  <c:v>37.3</c:v>
                </c:pt>
              </c:numCache>
            </c:numRef>
          </c:val>
        </c:ser>
        <c:dLbls>
          <c:numFmt formatCode="0.0" sourceLinked="0"/>
          <c:txPr>
            <a:bodyPr/>
            <a:lstStyle/>
            <a:p>
              <a:pPr>
                <a:defRPr b="0" i="0" strike="noStrike" sz="1100" u="none">
                  <a:solidFill>
                    <a:srgbClr val="17224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A6385"/>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DE2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6385"/>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7224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the paper we re-implemented, and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paper (Sawhney, Vasavada, Wang; CS229 2018) wants an encoding of musical style for style transfer. Style is undefined for music so they use genre as a stand-in. Their rule: no feature engineering, learn straight from the waveform.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GTZAN: 1000 songs, 10 genres, we use the same four genres as the paper. A song is 30 s at 22,050 Hz = about 661,500 samples. Clips of 20,000 samples = 0.907 s. Average pooling with window 40 gives 500 numbers. 22,050/40 = 551 values per second so only content under 276 Hz survives - that is the bass, kick drum and loudness. This explains much of what we found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use tanh units and dropout 0.1 (not in the two-layer net). The Vanilla autoencoder is unsupervised. The DSAE shares the encoder and adds a 64-32-16-4 classifier head on the bottleneck, so the 64 numbers must serve two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 3 of the paper. The classification gradient flows back through the bottleneck into the encoder. Gamma 0.9 weights reconstruction nine times more. NOTE: the paper writes a sum over 500 values; we use a mean because a sum would be about 500 times larger than the cross-entropy and the classifier would not 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DSAE beats the two-layer net on both splits, as in the paper, but we do not reach 65.3 percent. The paper leaves details open (which clips, scaling, epoch). The two-layer net is actually higher than the paper's because their baseline was under-trained. On unseen songs both fall further: the random split leaks.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Memorisation: with 20 fixed clips per song the network sees the same 6000 waveforms 500 times. 2) A single hand-made number, log RMS loudness, with logistic regression gets 62 percent on unseen songs, better than the paper-style DSAE. 3) GTZAN holds 30 recordings twice in these genres (13 jazz, 8 metal, 9 pop); some shifted by up to 0.18 s. We detect them by correlating loudness envelopes and keep both copies in training. Before the fix 5 of 50 test songs had a copy in training and the DSAE scored 57.3 instead of 52.2.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30 s song has far more than 20 possible clips. Every epoch our CropSampler cuts 20 new windows from each training song at random positions (multiples of 40 samples so that each song is pooled once). Architecture, loss, epochs and test clips are unchanged. Without memorisation the network tolerates and needs lr 1e-3, chosen on the dev set. Dev accuracy rises from 49 to 62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changed two things together, so we separated them. With fixed clips a bigger learning rate does not help (the network only memorises faster). With crops the DSAE already gains at 1e-4, the two-layer net needs 1e-3. With crops the plain two-layer network (66.8) equals the DSAE (66.8-66.9): the paper's claim that the hybrid design is needed for accuracy does not survive proper training. The DSAE's value is the encoding with a decoder.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Rows are true genres, columns are predictions, on 1,000 test clips from 50 unseen songs. Classical is easiest as in the paper. Mistakes are between neighbours in loudness: classical-jazz, jazz-metal, metal-pop. Our F1 with crops matches or beats the paper's on classical, metal and pop and is close on jazz, under the stricter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linear probe freezes the representation and trains a logistic regression on it: how linearly readable is genre? The vanilla autoencoder keeps almost no genre (37.1 percent) as the paper says. Only the encoding of the DSAE trained with random crops beats the loudness number. The PCA picture shows the DSAE encodings stretched along one dominant direction (84 percent of variance for the crops model) - which is loudness.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lists interpolating in the latent space as future work. z(t) = (1-t) zA + t zB. Every point on the line is a valid 64-dim input for the classifier head and for the decoder, so we can read a genre and draw a waveform at every step. 1,000 walks per genre pair, 21 steps, only between correctly classified clips. Direct = the top genre is only ever A or B. Steady = the target genre's probability never drops by more than one point. Reference: the same walk on the inputs, which is a plain cross-fade of the audio. Result: genres form a chain classical-jazz-metal-pop = order of loudness. 92 percent of latent walks are steady versus 70 percent for cross-fades.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plans to evaluate its embeddings in an extrinsic task. A song's fingerprint is the mean of its clip encodings, centred on the library mean and scaled to unit length; similarity is the dot product (cosine). Library: 300 training songs. Queries: the 100 dev and test songs the models never trained on. A hit is a result with the query's genre. Chance is 25 percent. Note MAP is higher for the paper-style DSAE because it memorised training songs so the library is sorted by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the paper-style DSAE with five values of gamma on the song split. gamma 1 is a pure autoencoder, the classifier is never trained and stays near guessing (33.2). Reconstruction error falls as gamma rises (1.064 to 0.731). Accuracy peaks at the paper's 0.9 and drops at 0.99. The paper's choice is reasonable.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streamlit run app.py in the main folder (needs the audio). Demo order: pick a classical test song, show prediction and clip-by-clip heat map; open 'Hear what the network hears'; Genre morph to pop; Similar songs; Project results. All results regenerate with python -m src.evaluate; 20 pytest tests need neither data nor weights.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with the evaluators: these limits are the honest reading of our own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Then offer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30"/>
        </a:solidFill>
      </p:bgPr>
    </p:bg>
    <p:spTree>
      <p:nvGrpSpPr>
        <p:cNvPr id="1" name=""/>
        <p:cNvGrpSpPr/>
        <p:nvPr/>
      </p:nvGrpSpPr>
      <p:grpSpPr>
        <a:xfrm>
          <a:off x="0" y="0"/>
          <a:ext cx="0" cy="0"/>
          <a:chOff x="0" y="0"/>
          <a:chExt cx="0" cy="0"/>
        </a:xfrm>
      </p:grpSpPr>
      <p:sp>
        <p:nvSpPr>
          <p:cNvPr id="2" name="Text 0"/>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C9D2F0"/>
                </a:solidFill>
                <a:latin typeface="Calibri" pitchFamily="34" charset="0"/>
                <a:ea typeface="Calibri" pitchFamily="34" charset="-122"/>
                <a:cs typeface="Calibri" pitchFamily="34" charset="-120"/>
              </a:rPr>
              <a:t>1</a:t>
            </a:r>
            <a:endParaRPr lang="en-US" sz="1000" dirty="0"/>
          </a:p>
        </p:txBody>
      </p:sp>
      <p:sp>
        <p:nvSpPr>
          <p:cNvPr id="3" name="Text 1"/>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C9D2F0"/>
                </a:solidFill>
                <a:latin typeface="Calibri" pitchFamily="34" charset="0"/>
                <a:ea typeface="Calibri" pitchFamily="34" charset="-122"/>
                <a:cs typeface="Calibri" pitchFamily="34" charset="-120"/>
              </a:rPr>
              <a:t>PES1UG24CS053 · PES1UG24CS051</a:t>
            </a:r>
            <a:endParaRPr lang="en-US" sz="1000" dirty="0"/>
          </a:p>
        </p:txBody>
      </p:sp>
      <p:sp>
        <p:nvSpPr>
          <p:cNvPr id="5" name="Text 2"/>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b="1" spc="300" kern="0" dirty="0">
                <a:solidFill>
                  <a:srgbClr val="F5A524"/>
                </a:solidFill>
                <a:latin typeface="Calibri" pitchFamily="34" charset="0"/>
                <a:ea typeface="Calibri" pitchFamily="34" charset="-122"/>
                <a:cs typeface="Calibri" pitchFamily="34" charset="-120"/>
              </a:rPr>
              <a:t>UE24CS352A  ·  MACHINE LEARNING  ·  MINI-PROJECT</a:t>
            </a:r>
            <a:endParaRPr lang="en-US" sz="1200" dirty="0"/>
          </a:p>
        </p:txBody>
      </p:sp>
      <p:sp>
        <p:nvSpPr>
          <p:cNvPr id="6" name="Text 3"/>
          <p:cNvSpPr txBox="1"/>
          <p:nvPr/>
        </p:nvSpPr>
        <p:spPr>
          <a:xfrm>
            <a:off x="548640" y="1051560"/>
            <a:ext cx="7498080" cy="15544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Latent Feature Extraction for Musical Genres from Raw Audio</a:t>
            </a:r>
            <a:endParaRPr lang="en-US" sz="4000" dirty="0"/>
          </a:p>
        </p:txBody>
      </p:sp>
      <p:sp>
        <p:nvSpPr>
          <p:cNvPr id="7" name="Text 4"/>
          <p:cNvSpPr txBox="1"/>
          <p:nvPr/>
        </p:nvSpPr>
        <p:spPr>
          <a:xfrm>
            <a:off x="548640" y="2743200"/>
            <a:ext cx="6949440" cy="640080"/>
          </a:xfrm>
          <a:prstGeom prst="rect">
            <a:avLst/>
          </a:prstGeom>
          <a:noFill/>
          <a:ln/>
        </p:spPr>
        <p:txBody>
          <a:bodyPr wrap="square" lIns="0" tIns="0" rIns="0" bIns="0" rtlCol="0" anchor="t"/>
          <a:lstStyle/>
          <a:p>
            <a:pPr indent="0" marL="0">
              <a:buNone/>
            </a:pPr>
            <a:r>
              <a:rPr lang="en-US" sz="1600" dirty="0">
                <a:solidFill>
                  <a:srgbClr val="C9D2F0"/>
                </a:solidFill>
                <a:latin typeface="Calibri" pitchFamily="34" charset="0"/>
                <a:ea typeface="Calibri" pitchFamily="34" charset="-122"/>
                <a:cs typeface="Calibri" pitchFamily="34" charset="-120"/>
              </a:rPr>
              <a:t>Re-implementing the Stanford CS229 Deep Softmax Autoencoder, testing it honestly, and extending it</a:t>
            </a:r>
            <a:endParaRPr lang="en-US" sz="1600" dirty="0"/>
          </a:p>
        </p:txBody>
      </p:sp>
      <p:sp>
        <p:nvSpPr>
          <p:cNvPr id="8" name="Shape 5"/>
          <p:cNvSpPr/>
          <p:nvPr/>
        </p:nvSpPr>
        <p:spPr>
          <a:xfrm>
            <a:off x="548640" y="3611880"/>
            <a:ext cx="3840480" cy="868680"/>
          </a:xfrm>
          <a:prstGeom prst="roundRect">
            <a:avLst>
              <a:gd name="adj" fmla="val 10526"/>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777240" y="3721608"/>
            <a:ext cx="34747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Amogh Sharma</a:t>
            </a:r>
            <a:endParaRPr lang="en-US" sz="1600" dirty="0"/>
          </a:p>
          <a:p>
            <a:pPr indent="0" marL="0">
              <a:buNone/>
            </a:pPr>
            <a:r>
              <a:rPr lang="en-US" sz="1600" dirty="0">
                <a:solidFill>
                  <a:srgbClr val="F5A524"/>
                </a:solidFill>
                <a:latin typeface="Calibri" pitchFamily="34" charset="0"/>
                <a:ea typeface="Calibri" pitchFamily="34" charset="-122"/>
                <a:cs typeface="Calibri" pitchFamily="34" charset="-120"/>
              </a:rPr>
              <a:t>PES1UG24CS053</a:t>
            </a:r>
            <a:endParaRPr lang="en-US" sz="1600" dirty="0"/>
          </a:p>
        </p:txBody>
      </p:sp>
      <p:sp>
        <p:nvSpPr>
          <p:cNvPr id="10" name="Shape 7"/>
          <p:cNvSpPr/>
          <p:nvPr/>
        </p:nvSpPr>
        <p:spPr>
          <a:xfrm>
            <a:off x="4663440" y="3611880"/>
            <a:ext cx="3840480" cy="868680"/>
          </a:xfrm>
          <a:prstGeom prst="roundRect">
            <a:avLst>
              <a:gd name="adj" fmla="val 10526"/>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4892040" y="3721608"/>
            <a:ext cx="3474720" cy="6400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Amartya Sinha</a:t>
            </a:r>
            <a:endParaRPr lang="en-US" sz="1600" dirty="0"/>
          </a:p>
          <a:p>
            <a:pPr indent="0" marL="0">
              <a:buNone/>
            </a:pPr>
            <a:r>
              <a:rPr lang="en-US" sz="1600" dirty="0">
                <a:solidFill>
                  <a:srgbClr val="F5A524"/>
                </a:solidFill>
                <a:latin typeface="Calibri" pitchFamily="34" charset="0"/>
                <a:ea typeface="Calibri" pitchFamily="34" charset="-122"/>
                <a:cs typeface="Calibri" pitchFamily="34" charset="-120"/>
              </a:rPr>
              <a:t>PES1UG24CS051</a:t>
            </a:r>
            <a:endParaRPr lang="en-US" sz="1600" dirty="0"/>
          </a:p>
        </p:txBody>
      </p:sp>
      <p:sp>
        <p:nvSpPr>
          <p:cNvPr id="12" name="Shape 9"/>
          <p:cNvSpPr/>
          <p:nvPr/>
        </p:nvSpPr>
        <p:spPr>
          <a:xfrm>
            <a:off x="7635240" y="845820"/>
            <a:ext cx="109728" cy="228600"/>
          </a:xfrm>
          <a:prstGeom prst="roundRect">
            <a:avLst>
              <a:gd name="adj" fmla="val 50000"/>
            </a:avLst>
          </a:prstGeom>
          <a:solidFill>
            <a:srgbClr val="F5A524"/>
          </a:solidFill>
          <a:ln w="12700">
            <a:solidFill>
              <a:srgbClr val="0B1530"/>
            </a:solidFill>
            <a:prstDash val="solid"/>
          </a:ln>
        </p:spPr>
      </p:sp>
      <p:sp>
        <p:nvSpPr>
          <p:cNvPr id="13" name="Shape 10"/>
          <p:cNvSpPr/>
          <p:nvPr/>
        </p:nvSpPr>
        <p:spPr>
          <a:xfrm>
            <a:off x="7818120" y="685800"/>
            <a:ext cx="109728" cy="548640"/>
          </a:xfrm>
          <a:prstGeom prst="roundRect">
            <a:avLst>
              <a:gd name="adj" fmla="val 50000"/>
            </a:avLst>
          </a:prstGeom>
          <a:solidFill>
            <a:srgbClr val="1AAE9F"/>
          </a:solidFill>
          <a:ln w="12700">
            <a:solidFill>
              <a:srgbClr val="0B1530"/>
            </a:solidFill>
            <a:prstDash val="solid"/>
          </a:ln>
        </p:spPr>
      </p:sp>
      <p:sp>
        <p:nvSpPr>
          <p:cNvPr id="14" name="Shape 11"/>
          <p:cNvSpPr/>
          <p:nvPr/>
        </p:nvSpPr>
        <p:spPr>
          <a:xfrm>
            <a:off x="8001000" y="502920"/>
            <a:ext cx="109728" cy="914400"/>
          </a:xfrm>
          <a:prstGeom prst="roundRect">
            <a:avLst>
              <a:gd name="adj" fmla="val 50000"/>
            </a:avLst>
          </a:prstGeom>
          <a:solidFill>
            <a:srgbClr val="F5A524"/>
          </a:solidFill>
          <a:ln w="12700">
            <a:solidFill>
              <a:srgbClr val="0B1530"/>
            </a:solidFill>
            <a:prstDash val="solid"/>
          </a:ln>
        </p:spPr>
      </p:sp>
      <p:sp>
        <p:nvSpPr>
          <p:cNvPr id="15" name="Shape 12"/>
          <p:cNvSpPr/>
          <p:nvPr/>
        </p:nvSpPr>
        <p:spPr>
          <a:xfrm>
            <a:off x="8183880" y="731520"/>
            <a:ext cx="109728" cy="457200"/>
          </a:xfrm>
          <a:prstGeom prst="roundRect">
            <a:avLst>
              <a:gd name="adj" fmla="val 50000"/>
            </a:avLst>
          </a:prstGeom>
          <a:solidFill>
            <a:srgbClr val="1AAE9F"/>
          </a:solidFill>
          <a:ln w="12700">
            <a:solidFill>
              <a:srgbClr val="0B1530"/>
            </a:solidFill>
            <a:prstDash val="solid"/>
          </a:ln>
        </p:spPr>
      </p:sp>
      <p:sp>
        <p:nvSpPr>
          <p:cNvPr id="16" name="Shape 13"/>
          <p:cNvSpPr/>
          <p:nvPr/>
        </p:nvSpPr>
        <p:spPr>
          <a:xfrm>
            <a:off x="8366760" y="594360"/>
            <a:ext cx="109728" cy="731520"/>
          </a:xfrm>
          <a:prstGeom prst="roundRect">
            <a:avLst>
              <a:gd name="adj" fmla="val 50000"/>
            </a:avLst>
          </a:prstGeom>
          <a:solidFill>
            <a:srgbClr val="F5A524"/>
          </a:solidFill>
          <a:ln w="12700">
            <a:solidFill>
              <a:srgbClr val="0B1530"/>
            </a:solidFill>
            <a:prstDash val="solid"/>
          </a:ln>
        </p:spPr>
      </p:sp>
      <p:sp>
        <p:nvSpPr>
          <p:cNvPr id="17" name="Shape 14"/>
          <p:cNvSpPr/>
          <p:nvPr/>
        </p:nvSpPr>
        <p:spPr>
          <a:xfrm>
            <a:off x="8549640" y="800100"/>
            <a:ext cx="109728" cy="320040"/>
          </a:xfrm>
          <a:prstGeom prst="roundRect">
            <a:avLst>
              <a:gd name="adj" fmla="val 50000"/>
            </a:avLst>
          </a:prstGeom>
          <a:solidFill>
            <a:srgbClr val="1AAE9F"/>
          </a:solidFill>
          <a:ln w="12700">
            <a:solidFill>
              <a:srgbClr val="0B1530"/>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What the paper asked</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2</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97280"/>
            <a:ext cx="3931920" cy="3474720"/>
          </a:xfrm>
          <a:prstGeom prst="roundRect">
            <a:avLst>
              <a:gd name="adj" fmla="val 263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85800" y="1280160"/>
            <a:ext cx="3474720" cy="320040"/>
          </a:xfrm>
          <a:prstGeom prst="rect">
            <a:avLst/>
          </a:prstGeom>
          <a:noFill/>
          <a:ln/>
        </p:spPr>
        <p:txBody>
          <a:bodyPr wrap="square" lIns="0" tIns="0" rIns="0" bIns="0" rtlCol="0" anchor="t"/>
          <a:lstStyle/>
          <a:p>
            <a:pPr indent="0" marL="0">
              <a:buNone/>
            </a:pPr>
            <a:r>
              <a:rPr lang="en-US" sz="1400" b="1" dirty="0">
                <a:solidFill>
                  <a:srgbClr val="E4572E"/>
                </a:solidFill>
                <a:latin typeface="Calibri" pitchFamily="34" charset="0"/>
                <a:ea typeface="Calibri" pitchFamily="34" charset="-122"/>
                <a:cs typeface="Calibri" pitchFamily="34" charset="-120"/>
              </a:rPr>
              <a:t>The question</a:t>
            </a:r>
            <a:endParaRPr lang="en-US" sz="1400" dirty="0"/>
          </a:p>
        </p:txBody>
      </p:sp>
      <p:sp>
        <p:nvSpPr>
          <p:cNvPr id="8" name="Text 5"/>
          <p:cNvSpPr txBox="1"/>
          <p:nvPr/>
        </p:nvSpPr>
        <p:spPr>
          <a:xfrm>
            <a:off x="685800" y="1645920"/>
            <a:ext cx="3474720" cy="1463040"/>
          </a:xfrm>
          <a:prstGeom prst="rect">
            <a:avLst/>
          </a:prstGeom>
          <a:noFill/>
          <a:ln/>
        </p:spPr>
        <p:txBody>
          <a:bodyPr wrap="square" lIns="0" tIns="0" rIns="0" bIns="0" rtlCol="0" anchor="t"/>
          <a:lstStyle/>
          <a:p>
            <a:pPr indent="0" marL="0">
              <a:buNone/>
            </a:pPr>
            <a:r>
              <a:rPr lang="en-US" sz="1600" dirty="0">
                <a:solidFill>
                  <a:srgbClr val="17224A"/>
                </a:solidFill>
                <a:latin typeface="Calibri" pitchFamily="34" charset="0"/>
                <a:ea typeface="Calibri" pitchFamily="34" charset="-122"/>
                <a:cs typeface="Calibri" pitchFamily="34" charset="-120"/>
              </a:rPr>
              <a:t>Can a network learn what makes classical sound classical and metal sound like metal, straight from the sound wave, without anyone telling it which audio properties to measure?</a:t>
            </a:r>
            <a:endParaRPr lang="en-US" sz="1600" dirty="0"/>
          </a:p>
        </p:txBody>
      </p:sp>
      <p:sp>
        <p:nvSpPr>
          <p:cNvPr id="9" name="Text 6"/>
          <p:cNvSpPr txBox="1"/>
          <p:nvPr/>
        </p:nvSpPr>
        <p:spPr>
          <a:xfrm>
            <a:off x="685800" y="3200400"/>
            <a:ext cx="3474720" cy="1188720"/>
          </a:xfrm>
          <a:prstGeom prst="rect">
            <a:avLst/>
          </a:prstGeom>
          <a:noFill/>
          <a:ln/>
        </p:spPr>
        <p:txBody>
          <a:bodyPr wrap="square" lIns="0" tIns="0" rIns="0" bIns="0" rtlCol="0" anchor="t"/>
          <a:lstStyle/>
          <a:p>
            <a:pPr indent="0" marL="0">
              <a:buNone/>
            </a:pPr>
            <a:r>
              <a:rPr lang="en-US" sz="1400" dirty="0">
                <a:solidFill>
                  <a:srgbClr val="5A6385"/>
                </a:solidFill>
                <a:latin typeface="Calibri" pitchFamily="34" charset="0"/>
                <a:ea typeface="Calibri" pitchFamily="34" charset="-122"/>
                <a:cs typeface="Calibri" pitchFamily="34" charset="-120"/>
              </a:rPr>
              <a:t>Why it matters: a compact style vector is the first step to music style transfer, like neural style transfer for images.</a:t>
            </a:r>
            <a:endParaRPr lang="en-US" sz="1400" dirty="0"/>
          </a:p>
        </p:txBody>
      </p:sp>
      <p:sp>
        <p:nvSpPr>
          <p:cNvPr id="10" name="Shape 7"/>
          <p:cNvSpPr/>
          <p:nvPr/>
        </p:nvSpPr>
        <p:spPr>
          <a:xfrm>
            <a:off x="4617720" y="1097280"/>
            <a:ext cx="406908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4754880" y="1298448"/>
            <a:ext cx="384048" cy="384048"/>
          </a:xfrm>
          <a:prstGeom prst="ellipse">
            <a:avLst/>
          </a:prstGeom>
          <a:solidFill>
            <a:srgbClr val="F5A524"/>
          </a:solidFill>
          <a:ln w="12700">
            <a:solidFill>
              <a:srgbClr val="F5A524"/>
            </a:solidFill>
            <a:prstDash val="solid"/>
          </a:ln>
        </p:spPr>
      </p:sp>
      <p:sp>
        <p:nvSpPr>
          <p:cNvPr id="12" name="Text 9"/>
          <p:cNvSpPr txBox="1"/>
          <p:nvPr/>
        </p:nvSpPr>
        <p:spPr>
          <a:xfrm>
            <a:off x="4754880" y="1298448"/>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5285232" y="1152144"/>
            <a:ext cx="3291840" cy="685800"/>
          </a:xfrm>
          <a:prstGeom prst="rect">
            <a:avLst/>
          </a:prstGeom>
          <a:noFill/>
          <a:ln/>
        </p:spPr>
        <p:txBody>
          <a:bodyPr wrap="square" lIns="0" tIns="0" rIns="0" bIns="0" rtlCol="0" anchor="ctr"/>
          <a:lstStyle/>
          <a:p>
            <a:pPr indent="0" marL="0">
              <a:buNone/>
            </a:pPr>
            <a:r>
              <a:rPr lang="en-US" sz="1200" b="1" dirty="0">
                <a:solidFill>
                  <a:srgbClr val="0B1530"/>
                </a:solidFill>
                <a:latin typeface="Calibri" pitchFamily="34" charset="0"/>
                <a:ea typeface="Calibri" pitchFamily="34" charset="-122"/>
                <a:cs typeface="Calibri" pitchFamily="34" charset="-120"/>
              </a:rPr>
              <a:t>Task  </a:t>
            </a:r>
            <a:pPr indent="0" marL="0">
              <a:buNone/>
            </a:pPr>
            <a:r>
              <a:rPr lang="en-US" sz="1200" dirty="0">
                <a:solidFill>
                  <a:srgbClr val="17224A"/>
                </a:solidFill>
                <a:latin typeface="Calibri" pitchFamily="34" charset="0"/>
                <a:ea typeface="Calibri" pitchFamily="34" charset="-122"/>
                <a:cs typeface="Calibri" pitchFamily="34" charset="-120"/>
              </a:rPr>
              <a:t>Raw audio samples to genre encodings, with no MFCCs, spectrograms or other hand-made features.</a:t>
            </a:r>
            <a:endParaRPr lang="en-US" sz="1200" dirty="0"/>
          </a:p>
        </p:txBody>
      </p:sp>
      <p:sp>
        <p:nvSpPr>
          <p:cNvPr id="14" name="Shape 11"/>
          <p:cNvSpPr/>
          <p:nvPr/>
        </p:nvSpPr>
        <p:spPr>
          <a:xfrm>
            <a:off x="4617720" y="1984248"/>
            <a:ext cx="406908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4754880" y="2185416"/>
            <a:ext cx="384048" cy="384048"/>
          </a:xfrm>
          <a:prstGeom prst="ellipse">
            <a:avLst/>
          </a:prstGeom>
          <a:solidFill>
            <a:srgbClr val="F5A524"/>
          </a:solidFill>
          <a:ln w="12700">
            <a:solidFill>
              <a:srgbClr val="F5A524"/>
            </a:solidFill>
            <a:prstDash val="solid"/>
          </a:ln>
        </p:spPr>
      </p:sp>
      <p:sp>
        <p:nvSpPr>
          <p:cNvPr id="16" name="Text 13"/>
          <p:cNvSpPr txBox="1"/>
          <p:nvPr/>
        </p:nvSpPr>
        <p:spPr>
          <a:xfrm>
            <a:off x="4754880" y="2185416"/>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5285232" y="2039112"/>
            <a:ext cx="3291840" cy="685800"/>
          </a:xfrm>
          <a:prstGeom prst="rect">
            <a:avLst/>
          </a:prstGeom>
          <a:noFill/>
          <a:ln/>
        </p:spPr>
        <p:txBody>
          <a:bodyPr wrap="square" lIns="0" tIns="0" rIns="0" bIns="0" rtlCol="0" anchor="ctr"/>
          <a:lstStyle/>
          <a:p>
            <a:pPr indent="0" marL="0">
              <a:buNone/>
            </a:pPr>
            <a:r>
              <a:rPr lang="en-US" sz="1200" b="1" dirty="0">
                <a:solidFill>
                  <a:srgbClr val="0B1530"/>
                </a:solidFill>
                <a:latin typeface="Calibri" pitchFamily="34" charset="0"/>
                <a:ea typeface="Calibri" pitchFamily="34" charset="-122"/>
                <a:cs typeface="Calibri" pitchFamily="34" charset="-120"/>
              </a:rPr>
              <a:t>Method  </a:t>
            </a:r>
            <a:pPr indent="0" marL="0">
              <a:buNone/>
            </a:pPr>
            <a:r>
              <a:rPr lang="en-US" sz="1200" dirty="0">
                <a:solidFill>
                  <a:srgbClr val="17224A"/>
                </a:solidFill>
                <a:latin typeface="Calibri" pitchFamily="34" charset="0"/>
                <a:ea typeface="Calibri" pitchFamily="34" charset="-122"/>
                <a:cs typeface="Calibri" pitchFamily="34" charset="-120"/>
              </a:rPr>
              <a:t>A Deep Softmax Autoencoder: 64 numbers that must both rebuild the clip and predict its genre.</a:t>
            </a:r>
            <a:endParaRPr lang="en-US" sz="1200" dirty="0"/>
          </a:p>
        </p:txBody>
      </p:sp>
      <p:sp>
        <p:nvSpPr>
          <p:cNvPr id="18" name="Shape 15"/>
          <p:cNvSpPr/>
          <p:nvPr/>
        </p:nvSpPr>
        <p:spPr>
          <a:xfrm>
            <a:off x="4617720" y="2871216"/>
            <a:ext cx="406908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4754880" y="3072384"/>
            <a:ext cx="384048" cy="384048"/>
          </a:xfrm>
          <a:prstGeom prst="ellipse">
            <a:avLst/>
          </a:prstGeom>
          <a:solidFill>
            <a:srgbClr val="F5A524"/>
          </a:solidFill>
          <a:ln w="12700">
            <a:solidFill>
              <a:srgbClr val="F5A524"/>
            </a:solidFill>
            <a:prstDash val="solid"/>
          </a:ln>
        </p:spPr>
      </p:sp>
      <p:sp>
        <p:nvSpPr>
          <p:cNvPr id="20" name="Text 17"/>
          <p:cNvSpPr txBox="1"/>
          <p:nvPr/>
        </p:nvSpPr>
        <p:spPr>
          <a:xfrm>
            <a:off x="4754880" y="3072384"/>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5285232" y="2926080"/>
            <a:ext cx="3291840" cy="685800"/>
          </a:xfrm>
          <a:prstGeom prst="rect">
            <a:avLst/>
          </a:prstGeom>
          <a:noFill/>
          <a:ln/>
        </p:spPr>
        <p:txBody>
          <a:bodyPr wrap="square" lIns="0" tIns="0" rIns="0" bIns="0" rtlCol="0" anchor="ctr"/>
          <a:lstStyle/>
          <a:p>
            <a:pPr indent="0" marL="0">
              <a:buNone/>
            </a:pPr>
            <a:r>
              <a:rPr lang="en-US" sz="1200" b="1" dirty="0">
                <a:solidFill>
                  <a:srgbClr val="0B1530"/>
                </a:solidFill>
                <a:latin typeface="Calibri" pitchFamily="34" charset="0"/>
                <a:ea typeface="Calibri" pitchFamily="34" charset="-122"/>
                <a:cs typeface="Calibri" pitchFamily="34" charset="-120"/>
              </a:rPr>
              <a:t>Evaluation  </a:t>
            </a:r>
            <a:pPr indent="0" marL="0">
              <a:buNone/>
            </a:pPr>
            <a:r>
              <a:rPr lang="en-US" sz="1200" dirty="0">
                <a:solidFill>
                  <a:srgbClr val="17224A"/>
                </a:solidFill>
                <a:latin typeface="Calibri" pitchFamily="34" charset="0"/>
                <a:ea typeface="Calibri" pitchFamily="34" charset="-122"/>
                <a:cs typeface="Calibri" pitchFamily="34" charset="-120"/>
              </a:rPr>
              <a:t>Accuracy, precision, recall and F1, plus PCA pictures of the encodings.</a:t>
            </a:r>
            <a:endParaRPr lang="en-US" sz="1200" dirty="0"/>
          </a:p>
        </p:txBody>
      </p:sp>
      <p:sp>
        <p:nvSpPr>
          <p:cNvPr id="22" name="Shape 19"/>
          <p:cNvSpPr/>
          <p:nvPr/>
        </p:nvSpPr>
        <p:spPr>
          <a:xfrm>
            <a:off x="4617720" y="3758184"/>
            <a:ext cx="4069080" cy="777240"/>
          </a:xfrm>
          <a:prstGeom prst="roundRect">
            <a:avLst>
              <a:gd name="adj" fmla="val 1176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3" name="Shape 20"/>
          <p:cNvSpPr/>
          <p:nvPr/>
        </p:nvSpPr>
        <p:spPr>
          <a:xfrm>
            <a:off x="4754880" y="3959352"/>
            <a:ext cx="384048" cy="384048"/>
          </a:xfrm>
          <a:prstGeom prst="ellipse">
            <a:avLst/>
          </a:prstGeom>
          <a:solidFill>
            <a:srgbClr val="F5A524"/>
          </a:solidFill>
          <a:ln w="12700">
            <a:solidFill>
              <a:srgbClr val="F5A524"/>
            </a:solidFill>
            <a:prstDash val="solid"/>
          </a:ln>
        </p:spPr>
      </p:sp>
      <p:sp>
        <p:nvSpPr>
          <p:cNvPr id="24" name="Text 21"/>
          <p:cNvSpPr txBox="1"/>
          <p:nvPr/>
        </p:nvSpPr>
        <p:spPr>
          <a:xfrm>
            <a:off x="4754880" y="3959352"/>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5285232" y="3813048"/>
            <a:ext cx="3291840" cy="685800"/>
          </a:xfrm>
          <a:prstGeom prst="rect">
            <a:avLst/>
          </a:prstGeom>
          <a:noFill/>
          <a:ln/>
        </p:spPr>
        <p:txBody>
          <a:bodyPr wrap="square" lIns="0" tIns="0" rIns="0" bIns="0" rtlCol="0" anchor="ctr"/>
          <a:lstStyle/>
          <a:p>
            <a:pPr indent="0" marL="0">
              <a:buNone/>
            </a:pPr>
            <a:r>
              <a:rPr lang="en-US" sz="1200" b="1" dirty="0">
                <a:solidFill>
                  <a:srgbClr val="0B1530"/>
                </a:solidFill>
                <a:latin typeface="Calibri" pitchFamily="34" charset="0"/>
                <a:ea typeface="Calibri" pitchFamily="34" charset="-122"/>
                <a:cs typeface="Calibri" pitchFamily="34" charset="-120"/>
              </a:rPr>
              <a:t>Left open  </a:t>
            </a:r>
            <a:pPr indent="0" marL="0">
              <a:buNone/>
            </a:pPr>
            <a:r>
              <a:rPr lang="en-US" sz="1200" dirty="0">
                <a:solidFill>
                  <a:srgbClr val="17224A"/>
                </a:solidFill>
                <a:latin typeface="Calibri" pitchFamily="34" charset="0"/>
                <a:ea typeface="Calibri" pitchFamily="34" charset="-122"/>
                <a:cs typeface="Calibri" pitchFamily="34" charset="-120"/>
              </a:rPr>
              <a:t>Latent interpolation, an external task for the encodings, more genres, a better autoencoder.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Data: from a song to 500 numbers</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3</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143000"/>
            <a:ext cx="187452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594360" y="1280160"/>
            <a:ext cx="1600200" cy="502920"/>
          </a:xfrm>
          <a:prstGeom prst="rect">
            <a:avLst/>
          </a:prstGeom>
          <a:noFill/>
          <a:ln/>
        </p:spPr>
        <p:txBody>
          <a:bodyPr wrap="square" lIns="0" tIns="0" rIns="0" bIns="0" rtlCol="0" anchor="t"/>
          <a:lstStyle/>
          <a:p>
            <a:pPr indent="0" marL="0">
              <a:buNone/>
            </a:pPr>
            <a:r>
              <a:rPr lang="en-US" sz="1500" b="1" dirty="0">
                <a:solidFill>
                  <a:srgbClr val="0B1530"/>
                </a:solidFill>
                <a:latin typeface="Calibri" pitchFamily="34" charset="0"/>
                <a:ea typeface="Calibri" pitchFamily="34" charset="-122"/>
                <a:cs typeface="Calibri" pitchFamily="34" charset="-120"/>
              </a:rPr>
              <a:t>30 s song</a:t>
            </a:r>
            <a:endParaRPr lang="en-US" sz="1500" dirty="0"/>
          </a:p>
        </p:txBody>
      </p:sp>
      <p:sp>
        <p:nvSpPr>
          <p:cNvPr id="8" name="Text 5"/>
          <p:cNvSpPr txBox="1"/>
          <p:nvPr/>
        </p:nvSpPr>
        <p:spPr>
          <a:xfrm>
            <a:off x="594360" y="1828800"/>
            <a:ext cx="1600200" cy="82296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661,500 samples</a:t>
            </a:r>
            <a:endParaRPr lang="en-US" sz="1300" dirty="0"/>
          </a:p>
          <a:p>
            <a:pPr indent="0" marL="0">
              <a:buNone/>
            </a:pPr>
            <a:r>
              <a:rPr lang="en-US" sz="1300" dirty="0">
                <a:solidFill>
                  <a:srgbClr val="5A6385"/>
                </a:solidFill>
                <a:latin typeface="Calibri" pitchFamily="34" charset="0"/>
                <a:ea typeface="Calibri" pitchFamily="34" charset="-122"/>
                <a:cs typeface="Calibri" pitchFamily="34" charset="-120"/>
              </a:rPr>
              <a:t>mono, 22.05 kHz</a:t>
            </a:r>
            <a:endParaRPr lang="en-US" sz="1300" dirty="0"/>
          </a:p>
        </p:txBody>
      </p:sp>
      <p:sp>
        <p:nvSpPr>
          <p:cNvPr id="9" name="Text 6"/>
          <p:cNvSpPr txBox="1"/>
          <p:nvPr/>
        </p:nvSpPr>
        <p:spPr>
          <a:xfrm>
            <a:off x="2331720" y="1691640"/>
            <a:ext cx="274320" cy="457200"/>
          </a:xfrm>
          <a:prstGeom prst="rect">
            <a:avLst/>
          </a:prstGeom>
          <a:noFill/>
          <a:ln/>
        </p:spPr>
        <p:txBody>
          <a:bodyPr wrap="square" lIns="0" tIns="0" rIns="0" bIns="0" rtlCol="0" anchor="ctr"/>
          <a:lstStyle/>
          <a:p>
            <a:pPr algn="ctr" indent="0" marL="0">
              <a:buNone/>
            </a:pPr>
            <a:r>
              <a:rPr lang="en-US" sz="2800" b="1" dirty="0">
                <a:solidFill>
                  <a:srgbClr val="F5A524"/>
                </a:solidFill>
                <a:latin typeface="Cambria" pitchFamily="34" charset="0"/>
                <a:ea typeface="Cambria" pitchFamily="34" charset="-122"/>
                <a:cs typeface="Cambria" pitchFamily="34" charset="-120"/>
              </a:rPr>
              <a:t>›</a:t>
            </a:r>
            <a:endParaRPr lang="en-US" sz="2800" dirty="0"/>
          </a:p>
        </p:txBody>
      </p:sp>
      <p:sp>
        <p:nvSpPr>
          <p:cNvPr id="10" name="Shape 7"/>
          <p:cNvSpPr/>
          <p:nvPr/>
        </p:nvSpPr>
        <p:spPr>
          <a:xfrm>
            <a:off x="2606040" y="1143000"/>
            <a:ext cx="187452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2743200" y="1280160"/>
            <a:ext cx="1600200" cy="502920"/>
          </a:xfrm>
          <a:prstGeom prst="rect">
            <a:avLst/>
          </a:prstGeom>
          <a:noFill/>
          <a:ln/>
        </p:spPr>
        <p:txBody>
          <a:bodyPr wrap="square" lIns="0" tIns="0" rIns="0" bIns="0" rtlCol="0" anchor="t"/>
          <a:lstStyle/>
          <a:p>
            <a:pPr indent="0" marL="0">
              <a:buNone/>
            </a:pPr>
            <a:r>
              <a:rPr lang="en-US" sz="1500" b="1" dirty="0">
                <a:solidFill>
                  <a:srgbClr val="0B1530"/>
                </a:solidFill>
                <a:latin typeface="Calibri" pitchFamily="34" charset="0"/>
                <a:ea typeface="Calibri" pitchFamily="34" charset="-122"/>
                <a:cs typeface="Calibri" pitchFamily="34" charset="-120"/>
              </a:rPr>
              <a:t>20,000-sample clip</a:t>
            </a:r>
            <a:endParaRPr lang="en-US" sz="1500" dirty="0"/>
          </a:p>
        </p:txBody>
      </p:sp>
      <p:sp>
        <p:nvSpPr>
          <p:cNvPr id="12" name="Text 9"/>
          <p:cNvSpPr txBox="1"/>
          <p:nvPr/>
        </p:nvSpPr>
        <p:spPr>
          <a:xfrm>
            <a:off x="2743200" y="1828800"/>
            <a:ext cx="1600200" cy="82296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0.9 s, 20 clips</a:t>
            </a:r>
            <a:endParaRPr lang="en-US" sz="1300" dirty="0"/>
          </a:p>
          <a:p>
            <a:pPr indent="0" marL="0">
              <a:buNone/>
            </a:pPr>
            <a:r>
              <a:rPr lang="en-US" sz="1300" dirty="0">
                <a:solidFill>
                  <a:srgbClr val="5A6385"/>
                </a:solidFill>
                <a:latin typeface="Calibri" pitchFamily="34" charset="0"/>
                <a:ea typeface="Calibri" pitchFamily="34" charset="-122"/>
                <a:cs typeface="Calibri" pitchFamily="34" charset="-120"/>
              </a:rPr>
              <a:t>per song</a:t>
            </a:r>
            <a:endParaRPr lang="en-US" sz="1300" dirty="0"/>
          </a:p>
        </p:txBody>
      </p:sp>
      <p:sp>
        <p:nvSpPr>
          <p:cNvPr id="13" name="Text 10"/>
          <p:cNvSpPr txBox="1"/>
          <p:nvPr/>
        </p:nvSpPr>
        <p:spPr>
          <a:xfrm>
            <a:off x="4480560" y="1691640"/>
            <a:ext cx="274320" cy="457200"/>
          </a:xfrm>
          <a:prstGeom prst="rect">
            <a:avLst/>
          </a:prstGeom>
          <a:noFill/>
          <a:ln/>
        </p:spPr>
        <p:txBody>
          <a:bodyPr wrap="square" lIns="0" tIns="0" rIns="0" bIns="0" rtlCol="0" anchor="ctr"/>
          <a:lstStyle/>
          <a:p>
            <a:pPr algn="ctr" indent="0" marL="0">
              <a:buNone/>
            </a:pPr>
            <a:r>
              <a:rPr lang="en-US" sz="2800" b="1" dirty="0">
                <a:solidFill>
                  <a:srgbClr val="F5A524"/>
                </a:solidFill>
                <a:latin typeface="Cambria" pitchFamily="34" charset="0"/>
                <a:ea typeface="Cambria" pitchFamily="34" charset="-122"/>
                <a:cs typeface="Cambria" pitchFamily="34" charset="-120"/>
              </a:rPr>
              <a:t>›</a:t>
            </a:r>
            <a:endParaRPr lang="en-US" sz="2800" dirty="0"/>
          </a:p>
        </p:txBody>
      </p:sp>
      <p:sp>
        <p:nvSpPr>
          <p:cNvPr id="14" name="Shape 11"/>
          <p:cNvSpPr/>
          <p:nvPr/>
        </p:nvSpPr>
        <p:spPr>
          <a:xfrm>
            <a:off x="4754880" y="1143000"/>
            <a:ext cx="187452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4892040" y="1280160"/>
            <a:ext cx="1600200" cy="502920"/>
          </a:xfrm>
          <a:prstGeom prst="rect">
            <a:avLst/>
          </a:prstGeom>
          <a:noFill/>
          <a:ln/>
        </p:spPr>
        <p:txBody>
          <a:bodyPr wrap="square" lIns="0" tIns="0" rIns="0" bIns="0" rtlCol="0" anchor="t"/>
          <a:lstStyle/>
          <a:p>
            <a:pPr indent="0" marL="0">
              <a:buNone/>
            </a:pPr>
            <a:r>
              <a:rPr lang="en-US" sz="1500" b="1" dirty="0">
                <a:solidFill>
                  <a:srgbClr val="0B1530"/>
                </a:solidFill>
                <a:latin typeface="Calibri" pitchFamily="34" charset="0"/>
                <a:ea typeface="Calibri" pitchFamily="34" charset="-122"/>
                <a:cs typeface="Calibri" pitchFamily="34" charset="-120"/>
              </a:rPr>
              <a:t>Average pool, 40</a:t>
            </a:r>
            <a:endParaRPr lang="en-US" sz="1500" dirty="0"/>
          </a:p>
        </p:txBody>
      </p:sp>
      <p:sp>
        <p:nvSpPr>
          <p:cNvPr id="16" name="Text 13"/>
          <p:cNvSpPr txBox="1"/>
          <p:nvPr/>
        </p:nvSpPr>
        <p:spPr>
          <a:xfrm>
            <a:off x="4892040" y="1828800"/>
            <a:ext cx="1600200" cy="82296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mean of every 40</a:t>
            </a:r>
            <a:endParaRPr lang="en-US" sz="1300" dirty="0"/>
          </a:p>
          <a:p>
            <a:pPr indent="0" marL="0">
              <a:buNone/>
            </a:pPr>
            <a:r>
              <a:rPr lang="en-US" sz="1300" dirty="0">
                <a:solidFill>
                  <a:srgbClr val="5A6385"/>
                </a:solidFill>
                <a:latin typeface="Calibri" pitchFamily="34" charset="0"/>
                <a:ea typeface="Calibri" pitchFamily="34" charset="-122"/>
                <a:cs typeface="Calibri" pitchFamily="34" charset="-120"/>
              </a:rPr>
              <a:t>neighbouring samples</a:t>
            </a:r>
            <a:endParaRPr lang="en-US" sz="1300" dirty="0"/>
          </a:p>
        </p:txBody>
      </p:sp>
      <p:sp>
        <p:nvSpPr>
          <p:cNvPr id="17" name="Text 14"/>
          <p:cNvSpPr txBox="1"/>
          <p:nvPr/>
        </p:nvSpPr>
        <p:spPr>
          <a:xfrm>
            <a:off x="6629400" y="1691640"/>
            <a:ext cx="274320" cy="457200"/>
          </a:xfrm>
          <a:prstGeom prst="rect">
            <a:avLst/>
          </a:prstGeom>
          <a:noFill/>
          <a:ln/>
        </p:spPr>
        <p:txBody>
          <a:bodyPr wrap="square" lIns="0" tIns="0" rIns="0" bIns="0" rtlCol="0" anchor="ctr"/>
          <a:lstStyle/>
          <a:p>
            <a:pPr algn="ctr" indent="0" marL="0">
              <a:buNone/>
            </a:pPr>
            <a:r>
              <a:rPr lang="en-US" sz="2800" b="1" dirty="0">
                <a:solidFill>
                  <a:srgbClr val="F5A524"/>
                </a:solidFill>
                <a:latin typeface="Cambria" pitchFamily="34" charset="0"/>
                <a:ea typeface="Cambria" pitchFamily="34" charset="-122"/>
                <a:cs typeface="Cambria" pitchFamily="34" charset="-120"/>
              </a:rPr>
              <a:t>›</a:t>
            </a:r>
            <a:endParaRPr lang="en-US" sz="2800" dirty="0"/>
          </a:p>
        </p:txBody>
      </p:sp>
      <p:sp>
        <p:nvSpPr>
          <p:cNvPr id="18" name="Shape 15"/>
          <p:cNvSpPr/>
          <p:nvPr/>
        </p:nvSpPr>
        <p:spPr>
          <a:xfrm>
            <a:off x="6903720" y="1143000"/>
            <a:ext cx="1874520" cy="1600200"/>
          </a:xfrm>
          <a:prstGeom prst="roundRect">
            <a:avLst>
              <a:gd name="adj" fmla="val 5714"/>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19" name="Text 16"/>
          <p:cNvSpPr txBox="1"/>
          <p:nvPr/>
        </p:nvSpPr>
        <p:spPr>
          <a:xfrm>
            <a:off x="7040880" y="1280160"/>
            <a:ext cx="1600200" cy="502920"/>
          </a:xfrm>
          <a:prstGeom prst="rect">
            <a:avLst/>
          </a:prstGeom>
          <a:noFill/>
          <a:ln/>
        </p:spPr>
        <p:txBody>
          <a:bodyPr wrap="square" lIns="0" tIns="0" rIns="0" bIns="0" rtlCol="0" anchor="t"/>
          <a:lstStyle/>
          <a:p>
            <a:pPr indent="0" marL="0">
              <a:buNone/>
            </a:pPr>
            <a:r>
              <a:rPr lang="en-US" sz="1500" b="1" dirty="0">
                <a:solidFill>
                  <a:srgbClr val="F5A524"/>
                </a:solidFill>
                <a:latin typeface="Calibri" pitchFamily="34" charset="0"/>
                <a:ea typeface="Calibri" pitchFamily="34" charset="-122"/>
                <a:cs typeface="Calibri" pitchFamily="34" charset="-120"/>
              </a:rPr>
              <a:t>500-dim input</a:t>
            </a:r>
            <a:endParaRPr lang="en-US" sz="1500" dirty="0"/>
          </a:p>
        </p:txBody>
      </p:sp>
      <p:sp>
        <p:nvSpPr>
          <p:cNvPr id="20" name="Text 17"/>
          <p:cNvSpPr txBox="1"/>
          <p:nvPr/>
        </p:nvSpPr>
        <p:spPr>
          <a:xfrm>
            <a:off x="7040880" y="1828800"/>
            <a:ext cx="1600200" cy="8229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scaled vector</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per clip</a:t>
            </a:r>
            <a:endParaRPr lang="en-US" sz="1300" dirty="0"/>
          </a:p>
        </p:txBody>
      </p:sp>
      <p:sp>
        <p:nvSpPr>
          <p:cNvPr id="21" name="Text 18"/>
          <p:cNvSpPr txBox="1"/>
          <p:nvPr/>
        </p:nvSpPr>
        <p:spPr>
          <a:xfrm>
            <a:off x="457200" y="3108960"/>
            <a:ext cx="2011680" cy="54864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400</a:t>
            </a:r>
            <a:endParaRPr lang="en-US" sz="3000" dirty="0"/>
          </a:p>
        </p:txBody>
      </p:sp>
      <p:sp>
        <p:nvSpPr>
          <p:cNvPr id="22" name="Text 19"/>
          <p:cNvSpPr txBox="1"/>
          <p:nvPr/>
        </p:nvSpPr>
        <p:spPr>
          <a:xfrm>
            <a:off x="457200" y="3703320"/>
            <a:ext cx="1920240" cy="64008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songs: classical, jazz, metal, pop</a:t>
            </a:r>
            <a:endParaRPr lang="en-US" sz="1300" dirty="0"/>
          </a:p>
        </p:txBody>
      </p:sp>
      <p:sp>
        <p:nvSpPr>
          <p:cNvPr id="23" name="Text 20"/>
          <p:cNvSpPr txBox="1"/>
          <p:nvPr/>
        </p:nvSpPr>
        <p:spPr>
          <a:xfrm>
            <a:off x="2606040" y="3108960"/>
            <a:ext cx="2011680" cy="54864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8,000</a:t>
            </a:r>
            <a:endParaRPr lang="en-US" sz="3000" dirty="0"/>
          </a:p>
        </p:txBody>
      </p:sp>
      <p:sp>
        <p:nvSpPr>
          <p:cNvPr id="24" name="Text 21"/>
          <p:cNvSpPr txBox="1"/>
          <p:nvPr/>
        </p:nvSpPr>
        <p:spPr>
          <a:xfrm>
            <a:off x="2606040" y="3703320"/>
            <a:ext cx="1920240" cy="64008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clips (400 x 20)</a:t>
            </a:r>
            <a:endParaRPr lang="en-US" sz="1300" dirty="0"/>
          </a:p>
        </p:txBody>
      </p:sp>
      <p:sp>
        <p:nvSpPr>
          <p:cNvPr id="25" name="Text 22"/>
          <p:cNvSpPr txBox="1"/>
          <p:nvPr/>
        </p:nvSpPr>
        <p:spPr>
          <a:xfrm>
            <a:off x="4754880" y="3108960"/>
            <a:ext cx="2011680" cy="548640"/>
          </a:xfrm>
          <a:prstGeom prst="rect">
            <a:avLst/>
          </a:prstGeom>
          <a:noFill/>
          <a:ln/>
        </p:spPr>
        <p:txBody>
          <a:bodyPr wrap="square" lIns="0" tIns="0" rIns="0" bIns="0" rtlCol="0" anchor="ctr"/>
          <a:lstStyle/>
          <a:p>
            <a:pPr indent="0" marL="0">
              <a:buNone/>
            </a:pPr>
            <a:r>
              <a:rPr lang="en-US" sz="1600" b="1" dirty="0">
                <a:solidFill>
                  <a:srgbClr val="0B1530"/>
                </a:solidFill>
                <a:latin typeface="Cambria" pitchFamily="34" charset="0"/>
                <a:ea typeface="Cambria" pitchFamily="34" charset="-122"/>
                <a:cs typeface="Cambria" pitchFamily="34" charset="-120"/>
              </a:rPr>
              <a:t>6,000 / 1,000 / 1,000</a:t>
            </a:r>
            <a:endParaRPr lang="en-US" sz="1600" dirty="0"/>
          </a:p>
        </p:txBody>
      </p:sp>
      <p:sp>
        <p:nvSpPr>
          <p:cNvPr id="26" name="Text 23"/>
          <p:cNvSpPr txBox="1"/>
          <p:nvPr/>
        </p:nvSpPr>
        <p:spPr>
          <a:xfrm>
            <a:off x="4754880" y="3703320"/>
            <a:ext cx="1920240" cy="64008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train / dev / test</a:t>
            </a:r>
            <a:endParaRPr lang="en-US" sz="1300" dirty="0"/>
          </a:p>
        </p:txBody>
      </p:sp>
      <p:sp>
        <p:nvSpPr>
          <p:cNvPr id="27" name="Text 24"/>
          <p:cNvSpPr txBox="1"/>
          <p:nvPr/>
        </p:nvSpPr>
        <p:spPr>
          <a:xfrm>
            <a:off x="6903720" y="3108960"/>
            <a:ext cx="2011680" cy="548640"/>
          </a:xfrm>
          <a:prstGeom prst="rect">
            <a:avLst/>
          </a:prstGeom>
          <a:noFill/>
          <a:ln/>
        </p:spPr>
        <p:txBody>
          <a:bodyPr wrap="square" lIns="0" tIns="0" rIns="0" bIns="0" rtlCol="0" anchor="ctr"/>
          <a:lstStyle/>
          <a:p>
            <a:pPr indent="0" marL="0">
              <a:buNone/>
            </a:pPr>
            <a:r>
              <a:rPr lang="en-US" sz="3000" b="1" dirty="0">
                <a:solidFill>
                  <a:srgbClr val="E4572E"/>
                </a:solidFill>
                <a:latin typeface="Cambria" pitchFamily="34" charset="0"/>
                <a:ea typeface="Cambria" pitchFamily="34" charset="-122"/>
                <a:cs typeface="Cambria" pitchFamily="34" charset="-120"/>
              </a:rPr>
              <a:t>276 Hz</a:t>
            </a:r>
            <a:endParaRPr lang="en-US" sz="3000" dirty="0"/>
          </a:p>
        </p:txBody>
      </p:sp>
      <p:sp>
        <p:nvSpPr>
          <p:cNvPr id="28" name="Text 25"/>
          <p:cNvSpPr txBox="1"/>
          <p:nvPr/>
        </p:nvSpPr>
        <p:spPr>
          <a:xfrm>
            <a:off x="6903720" y="3703320"/>
            <a:ext cx="1920240" cy="640080"/>
          </a:xfrm>
          <a:prstGeom prst="rect">
            <a:avLst/>
          </a:prstGeom>
          <a:noFill/>
          <a:ln/>
        </p:spPr>
        <p:txBody>
          <a:bodyPr wrap="square" lIns="0" tIns="0" rIns="0" bIns="0" rtlCol="0" anchor="t"/>
          <a:lstStyle/>
          <a:p>
            <a:pPr indent="0" marL="0">
              <a:buNone/>
            </a:pPr>
            <a:r>
              <a:rPr lang="en-US" sz="1300" dirty="0">
                <a:solidFill>
                  <a:srgbClr val="5A6385"/>
                </a:solidFill>
                <a:latin typeface="Calibri" pitchFamily="34" charset="0"/>
                <a:ea typeface="Calibri" pitchFamily="34" charset="-122"/>
                <a:cs typeface="Calibri" pitchFamily="34" charset="-120"/>
              </a:rPr>
              <a:t>highest frequency left after pooling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Three models from the paper</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4</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05840"/>
            <a:ext cx="8229600" cy="868680"/>
          </a:xfrm>
          <a:prstGeom prst="roundRect">
            <a:avLst>
              <a:gd name="adj" fmla="val 1052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594360" y="1097280"/>
            <a:ext cx="1691640" cy="731520"/>
          </a:xfrm>
          <a:prstGeom prst="rect">
            <a:avLst/>
          </a:prstGeom>
          <a:noFill/>
          <a:ln/>
        </p:spPr>
        <p:txBody>
          <a:bodyPr wrap="square" lIns="0" tIns="0" rIns="0" bIns="0" rtlCol="0" anchor="ctr"/>
          <a:lstStyle/>
          <a:p>
            <a:pPr indent="0" marL="0">
              <a:buNone/>
            </a:pPr>
            <a:r>
              <a:rPr lang="en-US" sz="1400" b="1" dirty="0">
                <a:solidFill>
                  <a:srgbClr val="0B1530"/>
                </a:solidFill>
                <a:latin typeface="Calibri" pitchFamily="34" charset="0"/>
                <a:ea typeface="Calibri" pitchFamily="34" charset="-122"/>
                <a:cs typeface="Calibri" pitchFamily="34" charset="-120"/>
              </a:rPr>
              <a:t>Two Layer</a:t>
            </a:r>
            <a:endParaRPr lang="en-US" sz="1400" dirty="0"/>
          </a:p>
          <a:p>
            <a:pPr indent="0" marL="0">
              <a:buNone/>
            </a:pPr>
            <a:r>
              <a:rPr lang="en-US" sz="1400" b="1" dirty="0">
                <a:solidFill>
                  <a:srgbClr val="0B1530"/>
                </a:solidFill>
                <a:latin typeface="Calibri" pitchFamily="34" charset="0"/>
                <a:ea typeface="Calibri" pitchFamily="34" charset="-122"/>
                <a:cs typeface="Calibri" pitchFamily="34" charset="-120"/>
              </a:rPr>
              <a:t>Neural Network</a:t>
            </a:r>
            <a:endParaRPr lang="en-US" sz="1400" dirty="0"/>
          </a:p>
        </p:txBody>
      </p:sp>
      <p:sp>
        <p:nvSpPr>
          <p:cNvPr id="8" name="Shape 5"/>
          <p:cNvSpPr/>
          <p:nvPr/>
        </p:nvSpPr>
        <p:spPr>
          <a:xfrm>
            <a:off x="2331720" y="1207008"/>
            <a:ext cx="566928" cy="457200"/>
          </a:xfrm>
          <a:prstGeom prst="roundRect">
            <a:avLst>
              <a:gd name="adj" fmla="val 16000"/>
            </a:avLst>
          </a:prstGeom>
          <a:solidFill>
            <a:srgbClr val="0B1530"/>
          </a:solidFill>
          <a:ln w="12700">
            <a:solidFill>
              <a:srgbClr val="FFFFFF"/>
            </a:solidFill>
            <a:prstDash val="solid"/>
          </a:ln>
        </p:spPr>
      </p:sp>
      <p:sp>
        <p:nvSpPr>
          <p:cNvPr id="9" name="Text 6"/>
          <p:cNvSpPr txBox="1"/>
          <p:nvPr/>
        </p:nvSpPr>
        <p:spPr>
          <a:xfrm>
            <a:off x="2331720" y="120700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500</a:t>
            </a:r>
            <a:endParaRPr lang="en-US" sz="1300" dirty="0"/>
          </a:p>
        </p:txBody>
      </p:sp>
      <p:sp>
        <p:nvSpPr>
          <p:cNvPr id="10" name="Shape 7"/>
          <p:cNvSpPr/>
          <p:nvPr/>
        </p:nvSpPr>
        <p:spPr>
          <a:xfrm>
            <a:off x="3044952" y="1207008"/>
            <a:ext cx="566928" cy="457200"/>
          </a:xfrm>
          <a:prstGeom prst="roundRect">
            <a:avLst>
              <a:gd name="adj" fmla="val 16000"/>
            </a:avLst>
          </a:prstGeom>
          <a:solidFill>
            <a:srgbClr val="3B4C99"/>
          </a:solidFill>
          <a:ln w="12700">
            <a:solidFill>
              <a:srgbClr val="FFFFFF"/>
            </a:solidFill>
            <a:prstDash val="solid"/>
          </a:ln>
        </p:spPr>
      </p:sp>
      <p:sp>
        <p:nvSpPr>
          <p:cNvPr id="11" name="Text 8"/>
          <p:cNvSpPr txBox="1"/>
          <p:nvPr/>
        </p:nvSpPr>
        <p:spPr>
          <a:xfrm>
            <a:off x="3044952" y="120700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128</a:t>
            </a:r>
            <a:endParaRPr lang="en-US" sz="1300" dirty="0"/>
          </a:p>
        </p:txBody>
      </p:sp>
      <p:sp>
        <p:nvSpPr>
          <p:cNvPr id="12" name="Shape 9"/>
          <p:cNvSpPr/>
          <p:nvPr/>
        </p:nvSpPr>
        <p:spPr>
          <a:xfrm>
            <a:off x="3758184" y="1207008"/>
            <a:ext cx="566928" cy="457200"/>
          </a:xfrm>
          <a:prstGeom prst="roundRect">
            <a:avLst>
              <a:gd name="adj" fmla="val 16000"/>
            </a:avLst>
          </a:prstGeom>
          <a:solidFill>
            <a:srgbClr val="E4572E"/>
          </a:solidFill>
          <a:ln w="12700">
            <a:solidFill>
              <a:srgbClr val="FFFFFF"/>
            </a:solidFill>
            <a:prstDash val="solid"/>
          </a:ln>
        </p:spPr>
      </p:sp>
      <p:sp>
        <p:nvSpPr>
          <p:cNvPr id="13" name="Text 10"/>
          <p:cNvSpPr txBox="1"/>
          <p:nvPr/>
        </p:nvSpPr>
        <p:spPr>
          <a:xfrm>
            <a:off x="3758184" y="120700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Shape 11"/>
          <p:cNvSpPr/>
          <p:nvPr/>
        </p:nvSpPr>
        <p:spPr>
          <a:xfrm>
            <a:off x="457200" y="2011680"/>
            <a:ext cx="8229600" cy="868680"/>
          </a:xfrm>
          <a:prstGeom prst="roundRect">
            <a:avLst>
              <a:gd name="adj" fmla="val 1052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5" name="Text 12"/>
          <p:cNvSpPr txBox="1"/>
          <p:nvPr/>
        </p:nvSpPr>
        <p:spPr>
          <a:xfrm>
            <a:off x="594360" y="2103120"/>
            <a:ext cx="1691640" cy="731520"/>
          </a:xfrm>
          <a:prstGeom prst="rect">
            <a:avLst/>
          </a:prstGeom>
          <a:noFill/>
          <a:ln/>
        </p:spPr>
        <p:txBody>
          <a:bodyPr wrap="square" lIns="0" tIns="0" rIns="0" bIns="0" rtlCol="0" anchor="ctr"/>
          <a:lstStyle/>
          <a:p>
            <a:pPr indent="0" marL="0">
              <a:buNone/>
            </a:pPr>
            <a:r>
              <a:rPr lang="en-US" sz="1400" b="1" dirty="0">
                <a:solidFill>
                  <a:srgbClr val="0B1530"/>
                </a:solidFill>
                <a:latin typeface="Calibri" pitchFamily="34" charset="0"/>
                <a:ea typeface="Calibri" pitchFamily="34" charset="-122"/>
                <a:cs typeface="Calibri" pitchFamily="34" charset="-120"/>
              </a:rPr>
              <a:t>Vanilla</a:t>
            </a:r>
            <a:endParaRPr lang="en-US" sz="1400" dirty="0"/>
          </a:p>
          <a:p>
            <a:pPr indent="0" marL="0">
              <a:buNone/>
            </a:pPr>
            <a:r>
              <a:rPr lang="en-US" sz="1400" b="1" dirty="0">
                <a:solidFill>
                  <a:srgbClr val="0B1530"/>
                </a:solidFill>
                <a:latin typeface="Calibri" pitchFamily="34" charset="0"/>
                <a:ea typeface="Calibri" pitchFamily="34" charset="-122"/>
                <a:cs typeface="Calibri" pitchFamily="34" charset="-120"/>
              </a:rPr>
              <a:t>Autoencoder</a:t>
            </a:r>
            <a:endParaRPr lang="en-US" sz="1400" dirty="0"/>
          </a:p>
        </p:txBody>
      </p:sp>
      <p:sp>
        <p:nvSpPr>
          <p:cNvPr id="16" name="Shape 13"/>
          <p:cNvSpPr/>
          <p:nvPr/>
        </p:nvSpPr>
        <p:spPr>
          <a:xfrm>
            <a:off x="2331720" y="2212848"/>
            <a:ext cx="566928" cy="457200"/>
          </a:xfrm>
          <a:prstGeom prst="roundRect">
            <a:avLst>
              <a:gd name="adj" fmla="val 16000"/>
            </a:avLst>
          </a:prstGeom>
          <a:solidFill>
            <a:srgbClr val="0B1530"/>
          </a:solidFill>
          <a:ln w="12700">
            <a:solidFill>
              <a:srgbClr val="FFFFFF"/>
            </a:solidFill>
            <a:prstDash val="solid"/>
          </a:ln>
        </p:spPr>
      </p:sp>
      <p:sp>
        <p:nvSpPr>
          <p:cNvPr id="17" name="Text 14"/>
          <p:cNvSpPr txBox="1"/>
          <p:nvPr/>
        </p:nvSpPr>
        <p:spPr>
          <a:xfrm>
            <a:off x="2331720"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500</a:t>
            </a:r>
            <a:endParaRPr lang="en-US" sz="1300" dirty="0"/>
          </a:p>
        </p:txBody>
      </p:sp>
      <p:sp>
        <p:nvSpPr>
          <p:cNvPr id="18" name="Shape 15"/>
          <p:cNvSpPr/>
          <p:nvPr/>
        </p:nvSpPr>
        <p:spPr>
          <a:xfrm>
            <a:off x="3044952" y="2212848"/>
            <a:ext cx="566928" cy="457200"/>
          </a:xfrm>
          <a:prstGeom prst="roundRect">
            <a:avLst>
              <a:gd name="adj" fmla="val 16000"/>
            </a:avLst>
          </a:prstGeom>
          <a:solidFill>
            <a:srgbClr val="3B4C99"/>
          </a:solidFill>
          <a:ln w="12700">
            <a:solidFill>
              <a:srgbClr val="FFFFFF"/>
            </a:solidFill>
            <a:prstDash val="solid"/>
          </a:ln>
        </p:spPr>
      </p:sp>
      <p:sp>
        <p:nvSpPr>
          <p:cNvPr id="19" name="Text 16"/>
          <p:cNvSpPr txBox="1"/>
          <p:nvPr/>
        </p:nvSpPr>
        <p:spPr>
          <a:xfrm>
            <a:off x="3044952"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256</a:t>
            </a:r>
            <a:endParaRPr lang="en-US" sz="1300" dirty="0"/>
          </a:p>
        </p:txBody>
      </p:sp>
      <p:sp>
        <p:nvSpPr>
          <p:cNvPr id="20" name="Shape 17"/>
          <p:cNvSpPr/>
          <p:nvPr/>
        </p:nvSpPr>
        <p:spPr>
          <a:xfrm>
            <a:off x="3758184" y="2212848"/>
            <a:ext cx="566928" cy="457200"/>
          </a:xfrm>
          <a:prstGeom prst="roundRect">
            <a:avLst>
              <a:gd name="adj" fmla="val 16000"/>
            </a:avLst>
          </a:prstGeom>
          <a:solidFill>
            <a:srgbClr val="3B4C99"/>
          </a:solidFill>
          <a:ln w="12700">
            <a:solidFill>
              <a:srgbClr val="FFFFFF"/>
            </a:solidFill>
            <a:prstDash val="solid"/>
          </a:ln>
        </p:spPr>
      </p:sp>
      <p:sp>
        <p:nvSpPr>
          <p:cNvPr id="21" name="Text 18"/>
          <p:cNvSpPr txBox="1"/>
          <p:nvPr/>
        </p:nvSpPr>
        <p:spPr>
          <a:xfrm>
            <a:off x="3758184"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192</a:t>
            </a:r>
            <a:endParaRPr lang="en-US" sz="1300" dirty="0"/>
          </a:p>
        </p:txBody>
      </p:sp>
      <p:sp>
        <p:nvSpPr>
          <p:cNvPr id="22" name="Shape 19"/>
          <p:cNvSpPr/>
          <p:nvPr/>
        </p:nvSpPr>
        <p:spPr>
          <a:xfrm>
            <a:off x="4471416" y="2212848"/>
            <a:ext cx="566928" cy="457200"/>
          </a:xfrm>
          <a:prstGeom prst="roundRect">
            <a:avLst>
              <a:gd name="adj" fmla="val 16000"/>
            </a:avLst>
          </a:prstGeom>
          <a:solidFill>
            <a:srgbClr val="3B4C99"/>
          </a:solidFill>
          <a:ln w="12700">
            <a:solidFill>
              <a:srgbClr val="FFFFFF"/>
            </a:solidFill>
            <a:prstDash val="solid"/>
          </a:ln>
        </p:spPr>
      </p:sp>
      <p:sp>
        <p:nvSpPr>
          <p:cNvPr id="23" name="Text 20"/>
          <p:cNvSpPr txBox="1"/>
          <p:nvPr/>
        </p:nvSpPr>
        <p:spPr>
          <a:xfrm>
            <a:off x="4471416"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128</a:t>
            </a:r>
            <a:endParaRPr lang="en-US" sz="1300" dirty="0"/>
          </a:p>
        </p:txBody>
      </p:sp>
      <p:sp>
        <p:nvSpPr>
          <p:cNvPr id="24" name="Shape 21"/>
          <p:cNvSpPr/>
          <p:nvPr/>
        </p:nvSpPr>
        <p:spPr>
          <a:xfrm>
            <a:off x="5184648" y="2212848"/>
            <a:ext cx="566928" cy="457200"/>
          </a:xfrm>
          <a:prstGeom prst="roundRect">
            <a:avLst>
              <a:gd name="adj" fmla="val 16000"/>
            </a:avLst>
          </a:prstGeom>
          <a:solidFill>
            <a:srgbClr val="F5A524"/>
          </a:solidFill>
          <a:ln w="12700">
            <a:solidFill>
              <a:srgbClr val="FFFFFF"/>
            </a:solidFill>
            <a:prstDash val="solid"/>
          </a:ln>
        </p:spPr>
      </p:sp>
      <p:sp>
        <p:nvSpPr>
          <p:cNvPr id="25" name="Text 22"/>
          <p:cNvSpPr txBox="1"/>
          <p:nvPr/>
        </p:nvSpPr>
        <p:spPr>
          <a:xfrm>
            <a:off x="5184648" y="2212848"/>
            <a:ext cx="566928" cy="457200"/>
          </a:xfrm>
          <a:prstGeom prst="rect">
            <a:avLst/>
          </a:prstGeom>
          <a:noFill/>
          <a:ln/>
        </p:spPr>
        <p:txBody>
          <a:bodyPr wrap="square" lIns="0" tIns="0" rIns="0" bIns="0" rtlCol="0" anchor="ctr"/>
          <a:lstStyle/>
          <a:p>
            <a:pPr algn="ctr" indent="0" marL="0">
              <a:buNone/>
            </a:pPr>
            <a:r>
              <a:rPr lang="en-US" sz="1300" b="1" dirty="0">
                <a:solidFill>
                  <a:srgbClr val="0B1530"/>
                </a:solidFill>
                <a:latin typeface="Calibri" pitchFamily="34" charset="0"/>
                <a:ea typeface="Calibri" pitchFamily="34" charset="-122"/>
                <a:cs typeface="Calibri" pitchFamily="34" charset="-120"/>
              </a:rPr>
              <a:t>64</a:t>
            </a:r>
            <a:endParaRPr lang="en-US" sz="1300" dirty="0"/>
          </a:p>
        </p:txBody>
      </p:sp>
      <p:sp>
        <p:nvSpPr>
          <p:cNvPr id="26" name="Shape 23"/>
          <p:cNvSpPr/>
          <p:nvPr/>
        </p:nvSpPr>
        <p:spPr>
          <a:xfrm>
            <a:off x="5897880" y="2212848"/>
            <a:ext cx="566928" cy="457200"/>
          </a:xfrm>
          <a:prstGeom prst="roundRect">
            <a:avLst>
              <a:gd name="adj" fmla="val 16000"/>
            </a:avLst>
          </a:prstGeom>
          <a:solidFill>
            <a:srgbClr val="3B4C99"/>
          </a:solidFill>
          <a:ln w="12700">
            <a:solidFill>
              <a:srgbClr val="FFFFFF"/>
            </a:solidFill>
            <a:prstDash val="solid"/>
          </a:ln>
        </p:spPr>
      </p:sp>
      <p:sp>
        <p:nvSpPr>
          <p:cNvPr id="27" name="Text 24"/>
          <p:cNvSpPr txBox="1"/>
          <p:nvPr/>
        </p:nvSpPr>
        <p:spPr>
          <a:xfrm>
            <a:off x="5897880"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128</a:t>
            </a:r>
            <a:endParaRPr lang="en-US" sz="1300" dirty="0"/>
          </a:p>
        </p:txBody>
      </p:sp>
      <p:sp>
        <p:nvSpPr>
          <p:cNvPr id="28" name="Shape 25"/>
          <p:cNvSpPr/>
          <p:nvPr/>
        </p:nvSpPr>
        <p:spPr>
          <a:xfrm>
            <a:off x="6611112" y="2212848"/>
            <a:ext cx="566928" cy="457200"/>
          </a:xfrm>
          <a:prstGeom prst="roundRect">
            <a:avLst>
              <a:gd name="adj" fmla="val 16000"/>
            </a:avLst>
          </a:prstGeom>
          <a:solidFill>
            <a:srgbClr val="3B4C99"/>
          </a:solidFill>
          <a:ln w="12700">
            <a:solidFill>
              <a:srgbClr val="FFFFFF"/>
            </a:solidFill>
            <a:prstDash val="solid"/>
          </a:ln>
        </p:spPr>
      </p:sp>
      <p:sp>
        <p:nvSpPr>
          <p:cNvPr id="29" name="Text 26"/>
          <p:cNvSpPr txBox="1"/>
          <p:nvPr/>
        </p:nvSpPr>
        <p:spPr>
          <a:xfrm>
            <a:off x="6611112"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192</a:t>
            </a:r>
            <a:endParaRPr lang="en-US" sz="1300" dirty="0"/>
          </a:p>
        </p:txBody>
      </p:sp>
      <p:sp>
        <p:nvSpPr>
          <p:cNvPr id="30" name="Shape 27"/>
          <p:cNvSpPr/>
          <p:nvPr/>
        </p:nvSpPr>
        <p:spPr>
          <a:xfrm>
            <a:off x="7324344" y="2212848"/>
            <a:ext cx="566928" cy="457200"/>
          </a:xfrm>
          <a:prstGeom prst="roundRect">
            <a:avLst>
              <a:gd name="adj" fmla="val 16000"/>
            </a:avLst>
          </a:prstGeom>
          <a:solidFill>
            <a:srgbClr val="3B4C99"/>
          </a:solidFill>
          <a:ln w="12700">
            <a:solidFill>
              <a:srgbClr val="FFFFFF"/>
            </a:solidFill>
            <a:prstDash val="solid"/>
          </a:ln>
        </p:spPr>
      </p:sp>
      <p:sp>
        <p:nvSpPr>
          <p:cNvPr id="31" name="Text 28"/>
          <p:cNvSpPr txBox="1"/>
          <p:nvPr/>
        </p:nvSpPr>
        <p:spPr>
          <a:xfrm>
            <a:off x="7324344"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256</a:t>
            </a:r>
            <a:endParaRPr lang="en-US" sz="1300" dirty="0"/>
          </a:p>
        </p:txBody>
      </p:sp>
      <p:sp>
        <p:nvSpPr>
          <p:cNvPr id="32" name="Shape 29"/>
          <p:cNvSpPr/>
          <p:nvPr/>
        </p:nvSpPr>
        <p:spPr>
          <a:xfrm>
            <a:off x="8037576" y="2212848"/>
            <a:ext cx="566928" cy="457200"/>
          </a:xfrm>
          <a:prstGeom prst="roundRect">
            <a:avLst>
              <a:gd name="adj" fmla="val 16000"/>
            </a:avLst>
          </a:prstGeom>
          <a:solidFill>
            <a:srgbClr val="0B1530"/>
          </a:solidFill>
          <a:ln w="12700">
            <a:solidFill>
              <a:srgbClr val="FFFFFF"/>
            </a:solidFill>
            <a:prstDash val="solid"/>
          </a:ln>
        </p:spPr>
      </p:sp>
      <p:sp>
        <p:nvSpPr>
          <p:cNvPr id="33" name="Text 30"/>
          <p:cNvSpPr txBox="1"/>
          <p:nvPr/>
        </p:nvSpPr>
        <p:spPr>
          <a:xfrm>
            <a:off x="8037576" y="221284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500</a:t>
            </a:r>
            <a:endParaRPr lang="en-US" sz="1300" dirty="0"/>
          </a:p>
        </p:txBody>
      </p:sp>
      <p:sp>
        <p:nvSpPr>
          <p:cNvPr id="34" name="Shape 31"/>
          <p:cNvSpPr/>
          <p:nvPr/>
        </p:nvSpPr>
        <p:spPr>
          <a:xfrm>
            <a:off x="457200" y="3017520"/>
            <a:ext cx="8229600" cy="16002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35" name="Text 32"/>
          <p:cNvSpPr txBox="1"/>
          <p:nvPr/>
        </p:nvSpPr>
        <p:spPr>
          <a:xfrm>
            <a:off x="594360" y="3108960"/>
            <a:ext cx="1691640" cy="731520"/>
          </a:xfrm>
          <a:prstGeom prst="rect">
            <a:avLst/>
          </a:prstGeom>
          <a:noFill/>
          <a:ln/>
        </p:spPr>
        <p:txBody>
          <a:bodyPr wrap="square" lIns="0" tIns="0" rIns="0" bIns="0" rtlCol="0" anchor="ctr"/>
          <a:lstStyle/>
          <a:p>
            <a:pPr indent="0" marL="0">
              <a:buNone/>
            </a:pPr>
            <a:r>
              <a:rPr lang="en-US" sz="1400" b="1" dirty="0">
                <a:solidFill>
                  <a:srgbClr val="0B1530"/>
                </a:solidFill>
                <a:latin typeface="Calibri" pitchFamily="34" charset="0"/>
                <a:ea typeface="Calibri" pitchFamily="34" charset="-122"/>
                <a:cs typeface="Calibri" pitchFamily="34" charset="-120"/>
              </a:rPr>
              <a:t>Deep Softmax</a:t>
            </a:r>
            <a:endParaRPr lang="en-US" sz="1400" dirty="0"/>
          </a:p>
          <a:p>
            <a:pPr indent="0" marL="0">
              <a:buNone/>
            </a:pPr>
            <a:r>
              <a:rPr lang="en-US" sz="1400" b="1" dirty="0">
                <a:solidFill>
                  <a:srgbClr val="0B1530"/>
                </a:solidFill>
                <a:latin typeface="Calibri" pitchFamily="34" charset="0"/>
                <a:ea typeface="Calibri" pitchFamily="34" charset="-122"/>
                <a:cs typeface="Calibri" pitchFamily="34" charset="-120"/>
              </a:rPr>
              <a:t>Autoencoder</a:t>
            </a:r>
            <a:endParaRPr lang="en-US" sz="1400" dirty="0"/>
          </a:p>
        </p:txBody>
      </p:sp>
      <p:sp>
        <p:nvSpPr>
          <p:cNvPr id="36" name="Shape 33"/>
          <p:cNvSpPr/>
          <p:nvPr/>
        </p:nvSpPr>
        <p:spPr>
          <a:xfrm>
            <a:off x="2331720" y="3218688"/>
            <a:ext cx="566928" cy="457200"/>
          </a:xfrm>
          <a:prstGeom prst="roundRect">
            <a:avLst>
              <a:gd name="adj" fmla="val 16000"/>
            </a:avLst>
          </a:prstGeom>
          <a:solidFill>
            <a:srgbClr val="0B1530"/>
          </a:solidFill>
          <a:ln w="12700">
            <a:solidFill>
              <a:srgbClr val="FFFFFF"/>
            </a:solidFill>
            <a:prstDash val="solid"/>
          </a:ln>
        </p:spPr>
      </p:sp>
      <p:sp>
        <p:nvSpPr>
          <p:cNvPr id="37" name="Text 34"/>
          <p:cNvSpPr txBox="1"/>
          <p:nvPr/>
        </p:nvSpPr>
        <p:spPr>
          <a:xfrm>
            <a:off x="2331720"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500</a:t>
            </a:r>
            <a:endParaRPr lang="en-US" sz="1300" dirty="0"/>
          </a:p>
        </p:txBody>
      </p:sp>
      <p:sp>
        <p:nvSpPr>
          <p:cNvPr id="38" name="Shape 35"/>
          <p:cNvSpPr/>
          <p:nvPr/>
        </p:nvSpPr>
        <p:spPr>
          <a:xfrm>
            <a:off x="3044952" y="3218688"/>
            <a:ext cx="566928" cy="457200"/>
          </a:xfrm>
          <a:prstGeom prst="roundRect">
            <a:avLst>
              <a:gd name="adj" fmla="val 16000"/>
            </a:avLst>
          </a:prstGeom>
          <a:solidFill>
            <a:srgbClr val="3B4C99"/>
          </a:solidFill>
          <a:ln w="12700">
            <a:solidFill>
              <a:srgbClr val="FFFFFF"/>
            </a:solidFill>
            <a:prstDash val="solid"/>
          </a:ln>
        </p:spPr>
      </p:sp>
      <p:sp>
        <p:nvSpPr>
          <p:cNvPr id="39" name="Text 36"/>
          <p:cNvSpPr txBox="1"/>
          <p:nvPr/>
        </p:nvSpPr>
        <p:spPr>
          <a:xfrm>
            <a:off x="3044952"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256</a:t>
            </a:r>
            <a:endParaRPr lang="en-US" sz="1300" dirty="0"/>
          </a:p>
        </p:txBody>
      </p:sp>
      <p:sp>
        <p:nvSpPr>
          <p:cNvPr id="40" name="Shape 37"/>
          <p:cNvSpPr/>
          <p:nvPr/>
        </p:nvSpPr>
        <p:spPr>
          <a:xfrm>
            <a:off x="3758184" y="3218688"/>
            <a:ext cx="566928" cy="457200"/>
          </a:xfrm>
          <a:prstGeom prst="roundRect">
            <a:avLst>
              <a:gd name="adj" fmla="val 16000"/>
            </a:avLst>
          </a:prstGeom>
          <a:solidFill>
            <a:srgbClr val="3B4C99"/>
          </a:solidFill>
          <a:ln w="12700">
            <a:solidFill>
              <a:srgbClr val="FFFFFF"/>
            </a:solidFill>
            <a:prstDash val="solid"/>
          </a:ln>
        </p:spPr>
      </p:sp>
      <p:sp>
        <p:nvSpPr>
          <p:cNvPr id="41" name="Text 38"/>
          <p:cNvSpPr txBox="1"/>
          <p:nvPr/>
        </p:nvSpPr>
        <p:spPr>
          <a:xfrm>
            <a:off x="3758184"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192</a:t>
            </a:r>
            <a:endParaRPr lang="en-US" sz="1300" dirty="0"/>
          </a:p>
        </p:txBody>
      </p:sp>
      <p:sp>
        <p:nvSpPr>
          <p:cNvPr id="42" name="Shape 39"/>
          <p:cNvSpPr/>
          <p:nvPr/>
        </p:nvSpPr>
        <p:spPr>
          <a:xfrm>
            <a:off x="4471416" y="3218688"/>
            <a:ext cx="566928" cy="457200"/>
          </a:xfrm>
          <a:prstGeom prst="roundRect">
            <a:avLst>
              <a:gd name="adj" fmla="val 16000"/>
            </a:avLst>
          </a:prstGeom>
          <a:solidFill>
            <a:srgbClr val="3B4C99"/>
          </a:solidFill>
          <a:ln w="12700">
            <a:solidFill>
              <a:srgbClr val="FFFFFF"/>
            </a:solidFill>
            <a:prstDash val="solid"/>
          </a:ln>
        </p:spPr>
      </p:sp>
      <p:sp>
        <p:nvSpPr>
          <p:cNvPr id="43" name="Text 40"/>
          <p:cNvSpPr txBox="1"/>
          <p:nvPr/>
        </p:nvSpPr>
        <p:spPr>
          <a:xfrm>
            <a:off x="4471416"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128</a:t>
            </a:r>
            <a:endParaRPr lang="en-US" sz="1300" dirty="0"/>
          </a:p>
        </p:txBody>
      </p:sp>
      <p:sp>
        <p:nvSpPr>
          <p:cNvPr id="44" name="Shape 41"/>
          <p:cNvSpPr/>
          <p:nvPr/>
        </p:nvSpPr>
        <p:spPr>
          <a:xfrm>
            <a:off x="5184648" y="3218688"/>
            <a:ext cx="566928" cy="457200"/>
          </a:xfrm>
          <a:prstGeom prst="roundRect">
            <a:avLst>
              <a:gd name="adj" fmla="val 16000"/>
            </a:avLst>
          </a:prstGeom>
          <a:solidFill>
            <a:srgbClr val="F5A524"/>
          </a:solidFill>
          <a:ln w="12700">
            <a:solidFill>
              <a:srgbClr val="FFFFFF"/>
            </a:solidFill>
            <a:prstDash val="solid"/>
          </a:ln>
        </p:spPr>
      </p:sp>
      <p:sp>
        <p:nvSpPr>
          <p:cNvPr id="45" name="Text 42"/>
          <p:cNvSpPr txBox="1"/>
          <p:nvPr/>
        </p:nvSpPr>
        <p:spPr>
          <a:xfrm>
            <a:off x="5184648" y="3218688"/>
            <a:ext cx="566928" cy="457200"/>
          </a:xfrm>
          <a:prstGeom prst="rect">
            <a:avLst/>
          </a:prstGeom>
          <a:noFill/>
          <a:ln/>
        </p:spPr>
        <p:txBody>
          <a:bodyPr wrap="square" lIns="0" tIns="0" rIns="0" bIns="0" rtlCol="0" anchor="ctr"/>
          <a:lstStyle/>
          <a:p>
            <a:pPr algn="ctr" indent="0" marL="0">
              <a:buNone/>
            </a:pPr>
            <a:r>
              <a:rPr lang="en-US" sz="1300" b="1" dirty="0">
                <a:solidFill>
                  <a:srgbClr val="0B1530"/>
                </a:solidFill>
                <a:latin typeface="Calibri" pitchFamily="34" charset="0"/>
                <a:ea typeface="Calibri" pitchFamily="34" charset="-122"/>
                <a:cs typeface="Calibri" pitchFamily="34" charset="-120"/>
              </a:rPr>
              <a:t>64</a:t>
            </a:r>
            <a:endParaRPr lang="en-US" sz="1300" dirty="0"/>
          </a:p>
        </p:txBody>
      </p:sp>
      <p:sp>
        <p:nvSpPr>
          <p:cNvPr id="46" name="Shape 43"/>
          <p:cNvSpPr/>
          <p:nvPr/>
        </p:nvSpPr>
        <p:spPr>
          <a:xfrm>
            <a:off x="5897880" y="3218688"/>
            <a:ext cx="566928" cy="457200"/>
          </a:xfrm>
          <a:prstGeom prst="roundRect">
            <a:avLst>
              <a:gd name="adj" fmla="val 16000"/>
            </a:avLst>
          </a:prstGeom>
          <a:solidFill>
            <a:srgbClr val="3B4C99"/>
          </a:solidFill>
          <a:ln w="12700">
            <a:solidFill>
              <a:srgbClr val="FFFFFF"/>
            </a:solidFill>
            <a:prstDash val="solid"/>
          </a:ln>
        </p:spPr>
      </p:sp>
      <p:sp>
        <p:nvSpPr>
          <p:cNvPr id="47" name="Text 44"/>
          <p:cNvSpPr txBox="1"/>
          <p:nvPr/>
        </p:nvSpPr>
        <p:spPr>
          <a:xfrm>
            <a:off x="5897880"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128</a:t>
            </a:r>
            <a:endParaRPr lang="en-US" sz="1300" dirty="0"/>
          </a:p>
        </p:txBody>
      </p:sp>
      <p:sp>
        <p:nvSpPr>
          <p:cNvPr id="48" name="Shape 45"/>
          <p:cNvSpPr/>
          <p:nvPr/>
        </p:nvSpPr>
        <p:spPr>
          <a:xfrm>
            <a:off x="6611112" y="3218688"/>
            <a:ext cx="566928" cy="457200"/>
          </a:xfrm>
          <a:prstGeom prst="roundRect">
            <a:avLst>
              <a:gd name="adj" fmla="val 16000"/>
            </a:avLst>
          </a:prstGeom>
          <a:solidFill>
            <a:srgbClr val="3B4C99"/>
          </a:solidFill>
          <a:ln w="12700">
            <a:solidFill>
              <a:srgbClr val="FFFFFF"/>
            </a:solidFill>
            <a:prstDash val="solid"/>
          </a:ln>
        </p:spPr>
      </p:sp>
      <p:sp>
        <p:nvSpPr>
          <p:cNvPr id="49" name="Text 46"/>
          <p:cNvSpPr txBox="1"/>
          <p:nvPr/>
        </p:nvSpPr>
        <p:spPr>
          <a:xfrm>
            <a:off x="6611112"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192</a:t>
            </a:r>
            <a:endParaRPr lang="en-US" sz="1300" dirty="0"/>
          </a:p>
        </p:txBody>
      </p:sp>
      <p:sp>
        <p:nvSpPr>
          <p:cNvPr id="50" name="Shape 47"/>
          <p:cNvSpPr/>
          <p:nvPr/>
        </p:nvSpPr>
        <p:spPr>
          <a:xfrm>
            <a:off x="7324344" y="3218688"/>
            <a:ext cx="566928" cy="457200"/>
          </a:xfrm>
          <a:prstGeom prst="roundRect">
            <a:avLst>
              <a:gd name="adj" fmla="val 16000"/>
            </a:avLst>
          </a:prstGeom>
          <a:solidFill>
            <a:srgbClr val="3B4C99"/>
          </a:solidFill>
          <a:ln w="12700">
            <a:solidFill>
              <a:srgbClr val="FFFFFF"/>
            </a:solidFill>
            <a:prstDash val="solid"/>
          </a:ln>
        </p:spPr>
      </p:sp>
      <p:sp>
        <p:nvSpPr>
          <p:cNvPr id="51" name="Text 48"/>
          <p:cNvSpPr txBox="1"/>
          <p:nvPr/>
        </p:nvSpPr>
        <p:spPr>
          <a:xfrm>
            <a:off x="7324344"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256</a:t>
            </a:r>
            <a:endParaRPr lang="en-US" sz="1300" dirty="0"/>
          </a:p>
        </p:txBody>
      </p:sp>
      <p:sp>
        <p:nvSpPr>
          <p:cNvPr id="52" name="Shape 49"/>
          <p:cNvSpPr/>
          <p:nvPr/>
        </p:nvSpPr>
        <p:spPr>
          <a:xfrm>
            <a:off x="8037576" y="3218688"/>
            <a:ext cx="566928" cy="457200"/>
          </a:xfrm>
          <a:prstGeom prst="roundRect">
            <a:avLst>
              <a:gd name="adj" fmla="val 16000"/>
            </a:avLst>
          </a:prstGeom>
          <a:solidFill>
            <a:srgbClr val="0B1530"/>
          </a:solidFill>
          <a:ln w="12700">
            <a:solidFill>
              <a:srgbClr val="FFFFFF"/>
            </a:solidFill>
            <a:prstDash val="solid"/>
          </a:ln>
        </p:spPr>
      </p:sp>
      <p:sp>
        <p:nvSpPr>
          <p:cNvPr id="53" name="Text 50"/>
          <p:cNvSpPr txBox="1"/>
          <p:nvPr/>
        </p:nvSpPr>
        <p:spPr>
          <a:xfrm>
            <a:off x="8037576" y="3218688"/>
            <a:ext cx="566928"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500</a:t>
            </a:r>
            <a:endParaRPr lang="en-US" sz="1300" dirty="0"/>
          </a:p>
        </p:txBody>
      </p:sp>
      <p:sp>
        <p:nvSpPr>
          <p:cNvPr id="54" name="Text 51"/>
          <p:cNvSpPr txBox="1"/>
          <p:nvPr/>
        </p:nvSpPr>
        <p:spPr>
          <a:xfrm>
            <a:off x="2331720" y="3749040"/>
            <a:ext cx="2926080" cy="274320"/>
          </a:xfrm>
          <a:prstGeom prst="rect">
            <a:avLst/>
          </a:prstGeom>
          <a:noFill/>
          <a:ln/>
        </p:spPr>
        <p:txBody>
          <a:bodyPr wrap="square" lIns="0" tIns="0" rIns="0" bIns="0" rtlCol="0" anchor="ctr"/>
          <a:lstStyle/>
          <a:p>
            <a:pPr indent="0" marL="0">
              <a:buNone/>
            </a:pPr>
            <a:r>
              <a:rPr lang="en-US" sz="1200" dirty="0">
                <a:solidFill>
                  <a:srgbClr val="5A6385"/>
                </a:solidFill>
                <a:latin typeface="Calibri" pitchFamily="34" charset="0"/>
                <a:ea typeface="Calibri" pitchFamily="34" charset="-122"/>
                <a:cs typeface="Calibri" pitchFamily="34" charset="-120"/>
              </a:rPr>
              <a:t>plus a classifier on the 64-dim encoding:</a:t>
            </a:r>
            <a:endParaRPr lang="en-US" sz="1200" dirty="0"/>
          </a:p>
        </p:txBody>
      </p:sp>
      <p:sp>
        <p:nvSpPr>
          <p:cNvPr id="55" name="Shape 52"/>
          <p:cNvSpPr/>
          <p:nvPr/>
        </p:nvSpPr>
        <p:spPr>
          <a:xfrm>
            <a:off x="2331720" y="4023360"/>
            <a:ext cx="566928" cy="411480"/>
          </a:xfrm>
          <a:prstGeom prst="roundRect">
            <a:avLst>
              <a:gd name="adj" fmla="val 17778"/>
            </a:avLst>
          </a:prstGeom>
          <a:solidFill>
            <a:srgbClr val="F5A524"/>
          </a:solidFill>
          <a:ln w="12700">
            <a:solidFill>
              <a:srgbClr val="FFFFFF"/>
            </a:solidFill>
            <a:prstDash val="solid"/>
          </a:ln>
        </p:spPr>
      </p:sp>
      <p:sp>
        <p:nvSpPr>
          <p:cNvPr id="56" name="Text 53"/>
          <p:cNvSpPr txBox="1"/>
          <p:nvPr/>
        </p:nvSpPr>
        <p:spPr>
          <a:xfrm>
            <a:off x="2331720" y="4023360"/>
            <a:ext cx="566928" cy="411480"/>
          </a:xfrm>
          <a:prstGeom prst="rect">
            <a:avLst/>
          </a:prstGeom>
          <a:noFill/>
          <a:ln/>
        </p:spPr>
        <p:txBody>
          <a:bodyPr wrap="square" lIns="0" tIns="0" rIns="0" bIns="0" rtlCol="0" anchor="ctr"/>
          <a:lstStyle/>
          <a:p>
            <a:pPr algn="ctr" indent="0" marL="0">
              <a:buNone/>
            </a:pPr>
            <a:r>
              <a:rPr lang="en-US" sz="1300" b="1" dirty="0">
                <a:solidFill>
                  <a:srgbClr val="0B1530"/>
                </a:solidFill>
                <a:latin typeface="Calibri" pitchFamily="34" charset="0"/>
                <a:ea typeface="Calibri" pitchFamily="34" charset="-122"/>
                <a:cs typeface="Calibri" pitchFamily="34" charset="-120"/>
              </a:rPr>
              <a:t>64</a:t>
            </a:r>
            <a:endParaRPr lang="en-US" sz="1300" dirty="0"/>
          </a:p>
        </p:txBody>
      </p:sp>
      <p:sp>
        <p:nvSpPr>
          <p:cNvPr id="57" name="Shape 54"/>
          <p:cNvSpPr/>
          <p:nvPr/>
        </p:nvSpPr>
        <p:spPr>
          <a:xfrm>
            <a:off x="3044952" y="4023360"/>
            <a:ext cx="566928" cy="411480"/>
          </a:xfrm>
          <a:prstGeom prst="roundRect">
            <a:avLst>
              <a:gd name="adj" fmla="val 17778"/>
            </a:avLst>
          </a:prstGeom>
          <a:solidFill>
            <a:srgbClr val="3B4C99"/>
          </a:solidFill>
          <a:ln w="12700">
            <a:solidFill>
              <a:srgbClr val="FFFFFF"/>
            </a:solidFill>
            <a:prstDash val="solid"/>
          </a:ln>
        </p:spPr>
      </p:sp>
      <p:sp>
        <p:nvSpPr>
          <p:cNvPr id="58" name="Text 55"/>
          <p:cNvSpPr txBox="1"/>
          <p:nvPr/>
        </p:nvSpPr>
        <p:spPr>
          <a:xfrm>
            <a:off x="3044952" y="4023360"/>
            <a:ext cx="566928"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32</a:t>
            </a:r>
            <a:endParaRPr lang="en-US" sz="1300" dirty="0"/>
          </a:p>
        </p:txBody>
      </p:sp>
      <p:sp>
        <p:nvSpPr>
          <p:cNvPr id="59" name="Shape 56"/>
          <p:cNvSpPr/>
          <p:nvPr/>
        </p:nvSpPr>
        <p:spPr>
          <a:xfrm>
            <a:off x="3758184" y="4023360"/>
            <a:ext cx="566928" cy="411480"/>
          </a:xfrm>
          <a:prstGeom prst="roundRect">
            <a:avLst>
              <a:gd name="adj" fmla="val 17778"/>
            </a:avLst>
          </a:prstGeom>
          <a:solidFill>
            <a:srgbClr val="3B4C99"/>
          </a:solidFill>
          <a:ln w="12700">
            <a:solidFill>
              <a:srgbClr val="FFFFFF"/>
            </a:solidFill>
            <a:prstDash val="solid"/>
          </a:ln>
        </p:spPr>
      </p:sp>
      <p:sp>
        <p:nvSpPr>
          <p:cNvPr id="60" name="Text 57"/>
          <p:cNvSpPr txBox="1"/>
          <p:nvPr/>
        </p:nvSpPr>
        <p:spPr>
          <a:xfrm>
            <a:off x="3758184" y="4023360"/>
            <a:ext cx="566928"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61" name="Shape 58"/>
          <p:cNvSpPr/>
          <p:nvPr/>
        </p:nvSpPr>
        <p:spPr>
          <a:xfrm>
            <a:off x="4471416" y="4023360"/>
            <a:ext cx="566928" cy="411480"/>
          </a:xfrm>
          <a:prstGeom prst="roundRect">
            <a:avLst>
              <a:gd name="adj" fmla="val 17778"/>
            </a:avLst>
          </a:prstGeom>
          <a:solidFill>
            <a:srgbClr val="E4572E"/>
          </a:solidFill>
          <a:ln w="12700">
            <a:solidFill>
              <a:srgbClr val="FFFFFF"/>
            </a:solidFill>
            <a:prstDash val="solid"/>
          </a:ln>
        </p:spPr>
      </p:sp>
      <p:sp>
        <p:nvSpPr>
          <p:cNvPr id="62" name="Text 59"/>
          <p:cNvSpPr txBox="1"/>
          <p:nvPr/>
        </p:nvSpPr>
        <p:spPr>
          <a:xfrm>
            <a:off x="4471416" y="4023360"/>
            <a:ext cx="566928"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63" name="Text 60"/>
          <p:cNvSpPr txBox="1"/>
          <p:nvPr/>
        </p:nvSpPr>
        <p:spPr>
          <a:xfrm>
            <a:off x="5394960" y="4023360"/>
            <a:ext cx="3154680" cy="411480"/>
          </a:xfrm>
          <a:prstGeom prst="rect">
            <a:avLst/>
          </a:prstGeom>
          <a:noFill/>
          <a:ln/>
        </p:spPr>
        <p:txBody>
          <a:bodyPr wrap="square" lIns="0" tIns="0" rIns="0" bIns="0" rtlCol="0" anchor="ctr"/>
          <a:lstStyle/>
          <a:p>
            <a:pPr algn="r" indent="0" marL="0">
              <a:buNone/>
            </a:pPr>
            <a:r>
              <a:rPr lang="en-US" sz="1200" dirty="0">
                <a:solidFill>
                  <a:srgbClr val="5A6385"/>
                </a:solidFill>
                <a:latin typeface="Calibri" pitchFamily="34" charset="0"/>
                <a:ea typeface="Calibri" pitchFamily="34" charset="-122"/>
                <a:cs typeface="Calibri" pitchFamily="34" charset="-120"/>
              </a:rPr>
              <a:t>tanh units everywhere, dropout 0.1 (none in the two-layer net)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One loss, two jobs for 64 numbers</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5</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97280"/>
            <a:ext cx="4937760" cy="1371600"/>
          </a:xfrm>
          <a:prstGeom prst="roundRect">
            <a:avLst>
              <a:gd name="adj" fmla="val 6667"/>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7" name="Text 4"/>
          <p:cNvSpPr txBox="1"/>
          <p:nvPr/>
        </p:nvSpPr>
        <p:spPr>
          <a:xfrm>
            <a:off x="640080" y="1188720"/>
            <a:ext cx="4572000" cy="64008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loss = γ · reconstruction + (1 − γ) · cross-entropy</a:t>
            </a:r>
            <a:endParaRPr lang="en-US" sz="1600" dirty="0"/>
          </a:p>
        </p:txBody>
      </p:sp>
      <p:sp>
        <p:nvSpPr>
          <p:cNvPr id="8" name="Text 5"/>
          <p:cNvSpPr txBox="1"/>
          <p:nvPr/>
        </p:nvSpPr>
        <p:spPr>
          <a:xfrm>
            <a:off x="640080" y="1828800"/>
            <a:ext cx="4572000" cy="502920"/>
          </a:xfrm>
          <a:prstGeom prst="rect">
            <a:avLst/>
          </a:prstGeom>
          <a:noFill/>
          <a:ln/>
        </p:spPr>
        <p:txBody>
          <a:bodyPr wrap="square" lIns="0" tIns="0" rIns="0" bIns="0" rtlCol="0" anchor="t"/>
          <a:lstStyle/>
          <a:p>
            <a:pPr indent="0" marL="0">
              <a:buNone/>
            </a:pPr>
            <a:r>
              <a:rPr lang="en-US" sz="1400" dirty="0">
                <a:solidFill>
                  <a:srgbClr val="F5A524"/>
                </a:solidFill>
                <a:latin typeface="Calibri" pitchFamily="34" charset="0"/>
                <a:ea typeface="Calibri" pitchFamily="34" charset="-122"/>
                <a:cs typeface="Calibri" pitchFamily="34" charset="-120"/>
              </a:rPr>
              <a:t>γ = 0.9: rebuild the clip, but still make the genre readable</a:t>
            </a:r>
            <a:endParaRPr lang="en-US" sz="1400" dirty="0"/>
          </a:p>
        </p:txBody>
      </p:sp>
      <p:sp>
        <p:nvSpPr>
          <p:cNvPr id="9" name="Text 6"/>
          <p:cNvSpPr txBox="1"/>
          <p:nvPr/>
        </p:nvSpPr>
        <p:spPr>
          <a:xfrm>
            <a:off x="457200" y="269748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7224A"/>
                </a:solidFill>
                <a:latin typeface="Calibri" pitchFamily="34" charset="0"/>
                <a:ea typeface="Calibri" pitchFamily="34" charset="-122"/>
                <a:cs typeface="Calibri" pitchFamily="34" charset="-120"/>
              </a:rPr>
              <a:t>Reconstruction: mean squared error between the 500 scaled inputs and the decoder output</a:t>
            </a:r>
            <a:endParaRPr lang="en-US" sz="1400" dirty="0"/>
          </a:p>
          <a:p>
            <a:pPr marL="342900" indent="-342900">
              <a:spcAft>
                <a:spcPts val="600"/>
              </a:spcAft>
              <a:buSzPct val="100000"/>
              <a:buChar char="•"/>
            </a:pPr>
            <a:r>
              <a:rPr lang="en-US" sz="1400" dirty="0">
                <a:solidFill>
                  <a:srgbClr val="17224A"/>
                </a:solidFill>
                <a:latin typeface="Calibri" pitchFamily="34" charset="0"/>
                <a:ea typeface="Calibri" pitchFamily="34" charset="-122"/>
                <a:cs typeface="Calibri" pitchFamily="34" charset="-120"/>
              </a:rPr>
              <a:t>Cross-entropy: −log of the probability given to the correct genre (softmax of 4 logits)</a:t>
            </a:r>
            <a:endParaRPr lang="en-US" sz="1400" dirty="0"/>
          </a:p>
          <a:p>
            <a:pPr marL="342900" indent="-342900">
              <a:spcAft>
                <a:spcPts val="600"/>
              </a:spcAft>
              <a:buSzPct val="100000"/>
              <a:buChar char="•"/>
            </a:pPr>
            <a:r>
              <a:rPr lang="en-US" sz="1400" dirty="0">
                <a:solidFill>
                  <a:srgbClr val="17224A"/>
                </a:solidFill>
                <a:latin typeface="Calibri" pitchFamily="34" charset="0"/>
                <a:ea typeface="Calibri" pitchFamily="34" charset="-122"/>
                <a:cs typeface="Calibri" pitchFamily="34" charset="-120"/>
              </a:rPr>
              <a:t>Our choice: a mean, not a sum, so both terms share a scale</a:t>
            </a:r>
            <a:endParaRPr lang="en-US" sz="1400" dirty="0"/>
          </a:p>
        </p:txBody>
      </p:sp>
      <p:sp>
        <p:nvSpPr>
          <p:cNvPr id="10" name="Shape 7"/>
          <p:cNvSpPr/>
          <p:nvPr/>
        </p:nvSpPr>
        <p:spPr>
          <a:xfrm>
            <a:off x="5623560" y="1097280"/>
            <a:ext cx="3063240" cy="3520440"/>
          </a:xfrm>
          <a:prstGeom prst="roundRect">
            <a:avLst>
              <a:gd name="adj" fmla="val 298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5806440" y="1234440"/>
            <a:ext cx="2743200" cy="320040"/>
          </a:xfrm>
          <a:prstGeom prst="rect">
            <a:avLst/>
          </a:prstGeom>
          <a:noFill/>
          <a:ln/>
        </p:spPr>
        <p:txBody>
          <a:bodyPr wrap="square" lIns="0" tIns="0" rIns="0" bIns="0" rtlCol="0" anchor="t"/>
          <a:lstStyle/>
          <a:p>
            <a:pPr indent="0" marL="0">
              <a:buNone/>
            </a:pPr>
            <a:r>
              <a:rPr lang="en-US" sz="1400" b="1" dirty="0">
                <a:solidFill>
                  <a:srgbClr val="0B1530"/>
                </a:solidFill>
                <a:latin typeface="Calibri" pitchFamily="34" charset="0"/>
                <a:ea typeface="Calibri" pitchFamily="34" charset="-122"/>
                <a:cs typeface="Calibri" pitchFamily="34" charset="-120"/>
              </a:rPr>
              <a:t>Training setup (paper)</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806440" y="1645920"/>
          <a:ext cx="2697480" cy="914400"/>
        </p:xfrm>
        <a:graphic>
          <a:graphicData uri="http://schemas.openxmlformats.org/drawingml/2006/table">
            <a:tbl>
              <a:tblPr/>
              <a:tblGrid>
                <a:gridCol w="1554480"/>
                <a:gridCol w="1143000"/>
              </a:tblGrid>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Optimiser</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Adam</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Learning rate</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1e-4</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Batch size</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512</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Epochs</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500</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Dropout</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Activation</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tanh</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Init (ours)</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Xavier</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29184">
                <a:tc>
                  <a:txBody>
                    <a:bodyPr/>
                    <a:lstStyle/>
                    <a:p>
                      <a:pPr indent="0" marL="0">
                        <a:buNone/>
                      </a:pPr>
                      <a:r>
                        <a:rPr lang="en-US" sz="1300" dirty="0">
                          <a:solidFill>
                            <a:srgbClr val="5A6385"/>
                          </a:solidFill>
                          <a:latin typeface="Calibri" pitchFamily="34" charset="0"/>
                          <a:ea typeface="Calibri" pitchFamily="34" charset="-122"/>
                          <a:cs typeface="Calibri" pitchFamily="34" charset="-120"/>
                        </a:rPr>
                        <a:t>Seed</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r" indent="0" marL="0">
                        <a:buNone/>
                      </a:pPr>
                      <a:r>
                        <a:rPr lang="en-US" sz="1300" b="1" dirty="0">
                          <a:solidFill>
                            <a:srgbClr val="0B1530"/>
                          </a:solidFill>
                          <a:latin typeface="Calibri" pitchFamily="34" charset="0"/>
                          <a:ea typeface="Calibri" pitchFamily="34" charset="-122"/>
                          <a:cs typeface="Calibri" pitchFamily="34" charset="-120"/>
                        </a:rPr>
                        <a:t>229</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Reproducing the paper</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6</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graphicFrame>
        <p:nvGraphicFramePr>
          <p:cNvPr id="6" name="Chart 0" descr=""/>
          <p:cNvGraphicFramePr/>
          <p:nvPr/>
        </p:nvGraphicFramePr>
        <p:xfrm>
          <a:off x="457200" y="105156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806440" y="1097280"/>
            <a:ext cx="2880360" cy="3520440"/>
          </a:xfrm>
          <a:prstGeom prst="roundRect">
            <a:avLst>
              <a:gd name="adj" fmla="val 317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5989320" y="1280160"/>
            <a:ext cx="256032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Ranking holds: the DSAE beats the baseline on both splits</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We get 56.3% where the paper reports 65.3%; the paper leaves details open</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Holding out whole songs costs the DSAE 4 points and the baseline 6.5</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Clips of one song in both train and test inflate the score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Three problems we found</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7</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143000"/>
            <a:ext cx="2606040" cy="3383280"/>
          </a:xfrm>
          <a:prstGeom prst="roundRect">
            <a:avLst>
              <a:gd name="adj" fmla="val 350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325880"/>
            <a:ext cx="182880" cy="182880"/>
          </a:xfrm>
          <a:prstGeom prst="ellipse">
            <a:avLst/>
          </a:prstGeom>
          <a:solidFill>
            <a:srgbClr val="E4572E"/>
          </a:solidFill>
          <a:ln w="12700">
            <a:solidFill>
              <a:srgbClr val="E4572E"/>
            </a:solidFill>
            <a:prstDash val="solid"/>
          </a:ln>
        </p:spPr>
      </p:sp>
      <p:sp>
        <p:nvSpPr>
          <p:cNvPr id="8" name="Text 5"/>
          <p:cNvSpPr txBox="1"/>
          <p:nvPr/>
        </p:nvSpPr>
        <p:spPr>
          <a:xfrm>
            <a:off x="640080" y="1645920"/>
            <a:ext cx="2286000" cy="822960"/>
          </a:xfrm>
          <a:prstGeom prst="rect">
            <a:avLst/>
          </a:prstGeom>
          <a:noFill/>
          <a:ln/>
        </p:spPr>
        <p:txBody>
          <a:bodyPr wrap="square" lIns="0" tIns="0" rIns="0" bIns="0" rtlCol="0" anchor="ctr"/>
          <a:lstStyle/>
          <a:p>
            <a:pPr indent="0" marL="0">
              <a:buNone/>
            </a:pPr>
            <a:r>
              <a:rPr lang="en-US" sz="2200" b="1" dirty="0">
                <a:solidFill>
                  <a:srgbClr val="0B1530"/>
                </a:solidFill>
                <a:latin typeface="Cambria" pitchFamily="34" charset="0"/>
                <a:ea typeface="Cambria" pitchFamily="34" charset="-122"/>
                <a:cs typeface="Cambria" pitchFamily="34" charset="-120"/>
              </a:rPr>
              <a:t>96.7%  vs  49.2%</a:t>
            </a:r>
            <a:endParaRPr lang="en-US" sz="2200" dirty="0"/>
          </a:p>
        </p:txBody>
      </p:sp>
      <p:sp>
        <p:nvSpPr>
          <p:cNvPr id="9" name="Text 6"/>
          <p:cNvSpPr txBox="1"/>
          <p:nvPr/>
        </p:nvSpPr>
        <p:spPr>
          <a:xfrm>
            <a:off x="640080" y="2514600"/>
            <a:ext cx="2286000" cy="457200"/>
          </a:xfrm>
          <a:prstGeom prst="rect">
            <a:avLst/>
          </a:prstGeom>
          <a:noFill/>
          <a:ln/>
        </p:spPr>
        <p:txBody>
          <a:bodyPr wrap="square" lIns="0" tIns="0" rIns="0" bIns="0" rtlCol="0" anchor="t"/>
          <a:lstStyle/>
          <a:p>
            <a:pPr indent="0" marL="0">
              <a:buNone/>
            </a:pPr>
            <a:r>
              <a:rPr lang="en-US" sz="1300" b="1" dirty="0">
                <a:solidFill>
                  <a:srgbClr val="5A6385"/>
                </a:solidFill>
                <a:latin typeface="Calibri" pitchFamily="34" charset="0"/>
                <a:ea typeface="Calibri" pitchFamily="34" charset="-122"/>
                <a:cs typeface="Calibri" pitchFamily="34" charset="-120"/>
              </a:rPr>
              <a:t>train vs dev accuracy of the DSAE</a:t>
            </a:r>
            <a:endParaRPr lang="en-US" sz="1300" dirty="0"/>
          </a:p>
        </p:txBody>
      </p:sp>
      <p:sp>
        <p:nvSpPr>
          <p:cNvPr id="10" name="Text 7"/>
          <p:cNvSpPr txBox="1"/>
          <p:nvPr/>
        </p:nvSpPr>
        <p:spPr>
          <a:xfrm>
            <a:off x="640080" y="3108960"/>
            <a:ext cx="2286000" cy="1280160"/>
          </a:xfrm>
          <a:prstGeom prst="rect">
            <a:avLst/>
          </a:prstGeom>
          <a:noFill/>
          <a:ln/>
        </p:spPr>
        <p:txBody>
          <a:bodyPr wrap="square" lIns="0" tIns="0" rIns="0" bIns="0" rtlCol="0" anchor="t"/>
          <a:lstStyle/>
          <a:p>
            <a:pPr indent="0" marL="0">
              <a:buNone/>
            </a:pPr>
            <a:r>
              <a:rPr lang="en-US" sz="1400" dirty="0">
                <a:solidFill>
                  <a:srgbClr val="17224A"/>
                </a:solidFill>
                <a:latin typeface="Calibri" pitchFamily="34" charset="0"/>
                <a:ea typeface="Calibri" pitchFamily="34" charset="-122"/>
                <a:cs typeface="Calibri" pitchFamily="34" charset="-120"/>
              </a:rPr>
              <a:t>The network memorises its 6,000 fixed training clips.</a:t>
            </a:r>
            <a:endParaRPr lang="en-US" sz="1400" dirty="0"/>
          </a:p>
        </p:txBody>
      </p:sp>
      <p:sp>
        <p:nvSpPr>
          <p:cNvPr id="11" name="Shape 8"/>
          <p:cNvSpPr/>
          <p:nvPr/>
        </p:nvSpPr>
        <p:spPr>
          <a:xfrm>
            <a:off x="3246120" y="1143000"/>
            <a:ext cx="2606040" cy="3383280"/>
          </a:xfrm>
          <a:prstGeom prst="roundRect">
            <a:avLst>
              <a:gd name="adj" fmla="val 350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3429000" y="1325880"/>
            <a:ext cx="182880" cy="182880"/>
          </a:xfrm>
          <a:prstGeom prst="ellipse">
            <a:avLst/>
          </a:prstGeom>
          <a:solidFill>
            <a:srgbClr val="F5A524"/>
          </a:solidFill>
          <a:ln w="12700">
            <a:solidFill>
              <a:srgbClr val="F5A524"/>
            </a:solidFill>
            <a:prstDash val="solid"/>
          </a:ln>
        </p:spPr>
      </p:sp>
      <p:sp>
        <p:nvSpPr>
          <p:cNvPr id="13" name="Text 10"/>
          <p:cNvSpPr txBox="1"/>
          <p:nvPr/>
        </p:nvSpPr>
        <p:spPr>
          <a:xfrm>
            <a:off x="3429000" y="1645920"/>
            <a:ext cx="2286000" cy="82296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62.0%</a:t>
            </a:r>
            <a:endParaRPr lang="en-US" sz="3000" dirty="0"/>
          </a:p>
        </p:txBody>
      </p:sp>
      <p:sp>
        <p:nvSpPr>
          <p:cNvPr id="14" name="Text 11"/>
          <p:cNvSpPr txBox="1"/>
          <p:nvPr/>
        </p:nvSpPr>
        <p:spPr>
          <a:xfrm>
            <a:off x="3429000" y="2514600"/>
            <a:ext cx="2286000" cy="457200"/>
          </a:xfrm>
          <a:prstGeom prst="rect">
            <a:avLst/>
          </a:prstGeom>
          <a:noFill/>
          <a:ln/>
        </p:spPr>
        <p:txBody>
          <a:bodyPr wrap="square" lIns="0" tIns="0" rIns="0" bIns="0" rtlCol="0" anchor="t"/>
          <a:lstStyle/>
          <a:p>
            <a:pPr indent="0" marL="0">
              <a:buNone/>
            </a:pPr>
            <a:r>
              <a:rPr lang="en-US" sz="1300" b="1" dirty="0">
                <a:solidFill>
                  <a:srgbClr val="5A6385"/>
                </a:solidFill>
                <a:latin typeface="Calibri" pitchFamily="34" charset="0"/>
                <a:ea typeface="Calibri" pitchFamily="34" charset="-122"/>
                <a:cs typeface="Calibri" pitchFamily="34" charset="-120"/>
              </a:rPr>
              <a:t>from loudness alone</a:t>
            </a:r>
            <a:endParaRPr lang="en-US" sz="1300" dirty="0"/>
          </a:p>
        </p:txBody>
      </p:sp>
      <p:sp>
        <p:nvSpPr>
          <p:cNvPr id="15" name="Text 12"/>
          <p:cNvSpPr txBox="1"/>
          <p:nvPr/>
        </p:nvSpPr>
        <p:spPr>
          <a:xfrm>
            <a:off x="3429000" y="3108960"/>
            <a:ext cx="2286000" cy="1280160"/>
          </a:xfrm>
          <a:prstGeom prst="rect">
            <a:avLst/>
          </a:prstGeom>
          <a:noFill/>
          <a:ln/>
        </p:spPr>
        <p:txBody>
          <a:bodyPr wrap="square" lIns="0" tIns="0" rIns="0" bIns="0" rtlCol="0" anchor="t"/>
          <a:lstStyle/>
          <a:p>
            <a:pPr indent="0" marL="0">
              <a:buNone/>
            </a:pPr>
            <a:r>
              <a:rPr lang="en-US" sz="1400" dirty="0">
                <a:solidFill>
                  <a:srgbClr val="17224A"/>
                </a:solidFill>
                <a:latin typeface="Calibri" pitchFamily="34" charset="0"/>
                <a:ea typeface="Calibri" pitchFamily="34" charset="-122"/>
                <a:cs typeface="Calibri" pitchFamily="34" charset="-120"/>
              </a:rPr>
              <a:t>One hand-made number beats the paper-style DSAE (52.2%).</a:t>
            </a:r>
            <a:endParaRPr lang="en-US" sz="1400" dirty="0"/>
          </a:p>
        </p:txBody>
      </p:sp>
      <p:sp>
        <p:nvSpPr>
          <p:cNvPr id="16" name="Shape 13"/>
          <p:cNvSpPr/>
          <p:nvPr/>
        </p:nvSpPr>
        <p:spPr>
          <a:xfrm>
            <a:off x="6035040" y="1143000"/>
            <a:ext cx="2606040" cy="3383280"/>
          </a:xfrm>
          <a:prstGeom prst="roundRect">
            <a:avLst>
              <a:gd name="adj" fmla="val 3509"/>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6217920" y="1325880"/>
            <a:ext cx="182880" cy="182880"/>
          </a:xfrm>
          <a:prstGeom prst="ellipse">
            <a:avLst/>
          </a:prstGeom>
          <a:solidFill>
            <a:srgbClr val="1AAE9F"/>
          </a:solidFill>
          <a:ln w="12700">
            <a:solidFill>
              <a:srgbClr val="1AAE9F"/>
            </a:solidFill>
            <a:prstDash val="solid"/>
          </a:ln>
        </p:spPr>
      </p:sp>
      <p:sp>
        <p:nvSpPr>
          <p:cNvPr id="18" name="Text 15"/>
          <p:cNvSpPr txBox="1"/>
          <p:nvPr/>
        </p:nvSpPr>
        <p:spPr>
          <a:xfrm>
            <a:off x="6217920" y="1645920"/>
            <a:ext cx="2286000" cy="82296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30 pairs</a:t>
            </a:r>
            <a:endParaRPr lang="en-US" sz="3000" dirty="0"/>
          </a:p>
        </p:txBody>
      </p:sp>
      <p:sp>
        <p:nvSpPr>
          <p:cNvPr id="19" name="Text 16"/>
          <p:cNvSpPr txBox="1"/>
          <p:nvPr/>
        </p:nvSpPr>
        <p:spPr>
          <a:xfrm>
            <a:off x="6217920" y="2514600"/>
            <a:ext cx="2286000" cy="457200"/>
          </a:xfrm>
          <a:prstGeom prst="rect">
            <a:avLst/>
          </a:prstGeom>
          <a:noFill/>
          <a:ln/>
        </p:spPr>
        <p:txBody>
          <a:bodyPr wrap="square" lIns="0" tIns="0" rIns="0" bIns="0" rtlCol="0" anchor="t"/>
          <a:lstStyle/>
          <a:p>
            <a:pPr indent="0" marL="0">
              <a:buNone/>
            </a:pPr>
            <a:r>
              <a:rPr lang="en-US" sz="1300" b="1" dirty="0">
                <a:solidFill>
                  <a:srgbClr val="5A6385"/>
                </a:solidFill>
                <a:latin typeface="Calibri" pitchFamily="34" charset="0"/>
                <a:ea typeface="Calibri" pitchFamily="34" charset="-122"/>
                <a:cs typeface="Calibri" pitchFamily="34" charset="-120"/>
              </a:rPr>
              <a:t>duplicate recordings in GTZAN</a:t>
            </a:r>
            <a:endParaRPr lang="en-US" sz="1300" dirty="0"/>
          </a:p>
        </p:txBody>
      </p:sp>
      <p:sp>
        <p:nvSpPr>
          <p:cNvPr id="20" name="Text 17"/>
          <p:cNvSpPr txBox="1"/>
          <p:nvPr/>
        </p:nvSpPr>
        <p:spPr>
          <a:xfrm>
            <a:off x="6217920" y="3108960"/>
            <a:ext cx="2286000" cy="1280160"/>
          </a:xfrm>
          <a:prstGeom prst="rect">
            <a:avLst/>
          </a:prstGeom>
          <a:noFill/>
          <a:ln/>
        </p:spPr>
        <p:txBody>
          <a:bodyPr wrap="square" lIns="0" tIns="0" rIns="0" bIns="0" rtlCol="0" anchor="t"/>
          <a:lstStyle/>
          <a:p>
            <a:pPr indent="0" marL="0">
              <a:buNone/>
            </a:pPr>
            <a:r>
              <a:rPr lang="en-US" sz="1400" dirty="0">
                <a:solidFill>
                  <a:srgbClr val="17224A"/>
                </a:solidFill>
                <a:latin typeface="Calibri" pitchFamily="34" charset="0"/>
                <a:ea typeface="Calibri" pitchFamily="34" charset="-122"/>
                <a:cs typeface="Calibri" pitchFamily="34" charset="-120"/>
              </a:rPr>
              <a:t>5 of 50 test songs had a copy in training; the DSAE looked 5 points better.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Our fix: random crops</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8</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51560"/>
            <a:ext cx="8229600" cy="2331720"/>
          </a:xfrm>
          <a:prstGeom prst="roundRect">
            <a:avLst>
              <a:gd name="adj" fmla="val 392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D:/SEM-5/ML/ML ASSIGNMENT/results/figures/accuracy_curves_song.png">    </p:cNvPr>
          <p:cNvPicPr>
            <a:picLocks noChangeAspect="1"/>
          </p:cNvPicPr>
          <p:nvPr/>
        </p:nvPicPr>
        <p:blipFill>
          <a:blip r:embed="rId1"/>
          <a:stretch>
            <a:fillRect/>
          </a:stretch>
        </p:blipFill>
        <p:spPr>
          <a:xfrm>
            <a:off x="548640" y="1115568"/>
            <a:ext cx="8046720" cy="2132450"/>
          </a:xfrm>
          <a:prstGeom prst="rect">
            <a:avLst/>
          </a:prstGeom>
        </p:spPr>
      </p:pic>
      <p:sp>
        <p:nvSpPr>
          <p:cNvPr id="8" name="Text 4"/>
          <p:cNvSpPr txBox="1"/>
          <p:nvPr/>
        </p:nvSpPr>
        <p:spPr>
          <a:xfrm>
            <a:off x="548640" y="3200400"/>
            <a:ext cx="8046720" cy="228600"/>
          </a:xfrm>
          <a:prstGeom prst="rect">
            <a:avLst/>
          </a:prstGeom>
          <a:noFill/>
          <a:ln/>
        </p:spPr>
        <p:txBody>
          <a:bodyPr wrap="square" lIns="0" tIns="0" rIns="0" bIns="0" rtlCol="0" anchor="t"/>
          <a:lstStyle/>
          <a:p>
            <a:pPr algn="ctr" indent="0" marL="0">
              <a:buNone/>
            </a:pPr>
            <a:r>
              <a:rPr lang="en-US" sz="1100" dirty="0">
                <a:solidFill>
                  <a:srgbClr val="5A6385"/>
                </a:solidFill>
                <a:latin typeface="Calibri" pitchFamily="34" charset="0"/>
                <a:ea typeface="Calibri" pitchFamily="34" charset="-122"/>
                <a:cs typeface="Calibri" pitchFamily="34" charset="-120"/>
              </a:rPr>
              <a:t>Accuracy during training, unseen-songs split. Left and middle: fixed clips are memorised. Right: random crops.</a:t>
            </a:r>
            <a:endParaRPr lang="en-US" sz="1100" dirty="0"/>
          </a:p>
        </p:txBody>
      </p:sp>
      <p:sp>
        <p:nvSpPr>
          <p:cNvPr id="9" name="Shape 5"/>
          <p:cNvSpPr/>
          <p:nvPr/>
        </p:nvSpPr>
        <p:spPr>
          <a:xfrm>
            <a:off x="457200" y="3611880"/>
            <a:ext cx="2606040" cy="1005840"/>
          </a:xfrm>
          <a:prstGeom prst="roundRect">
            <a:avLst>
              <a:gd name="adj" fmla="val 9091"/>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10" name="Text 6"/>
          <p:cNvSpPr txBox="1"/>
          <p:nvPr/>
        </p:nvSpPr>
        <p:spPr>
          <a:xfrm>
            <a:off x="594360" y="3675888"/>
            <a:ext cx="2377440" cy="457200"/>
          </a:xfrm>
          <a:prstGeom prst="rect">
            <a:avLst/>
          </a:prstGeom>
          <a:noFill/>
          <a:ln/>
        </p:spPr>
        <p:txBody>
          <a:bodyPr wrap="square" lIns="0" tIns="0" rIns="0" bIns="0" rtlCol="0" anchor="ctr"/>
          <a:lstStyle/>
          <a:p>
            <a:pPr indent="0" marL="0">
              <a:buNone/>
            </a:pPr>
            <a:r>
              <a:rPr lang="en-US" sz="2000" b="1" dirty="0">
                <a:solidFill>
                  <a:srgbClr val="F5A524"/>
                </a:solidFill>
                <a:latin typeface="Cambria" pitchFamily="34" charset="0"/>
                <a:ea typeface="Cambria" pitchFamily="34" charset="-122"/>
                <a:cs typeface="Cambria" pitchFamily="34" charset="-120"/>
              </a:rPr>
              <a:t>52.2% → 66.8%</a:t>
            </a:r>
            <a:endParaRPr lang="en-US" sz="2000" dirty="0"/>
          </a:p>
        </p:txBody>
      </p:sp>
      <p:sp>
        <p:nvSpPr>
          <p:cNvPr id="11" name="Text 7"/>
          <p:cNvSpPr txBox="1"/>
          <p:nvPr/>
        </p:nvSpPr>
        <p:spPr>
          <a:xfrm>
            <a:off x="594360" y="4133088"/>
            <a:ext cx="2377440" cy="4572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DSAE test accuracy on unseen songs</a:t>
            </a:r>
            <a:endParaRPr lang="en-US" sz="1200" dirty="0"/>
          </a:p>
        </p:txBody>
      </p:sp>
      <p:sp>
        <p:nvSpPr>
          <p:cNvPr id="12" name="Shape 8"/>
          <p:cNvSpPr/>
          <p:nvPr/>
        </p:nvSpPr>
        <p:spPr>
          <a:xfrm>
            <a:off x="3246120" y="3611880"/>
            <a:ext cx="2606040" cy="1005840"/>
          </a:xfrm>
          <a:prstGeom prst="roundRect">
            <a:avLst>
              <a:gd name="adj" fmla="val 9091"/>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3383280" y="3675888"/>
            <a:ext cx="2377440" cy="457200"/>
          </a:xfrm>
          <a:prstGeom prst="rect">
            <a:avLst/>
          </a:prstGeom>
          <a:noFill/>
          <a:ln/>
        </p:spPr>
        <p:txBody>
          <a:bodyPr wrap="square" lIns="0" tIns="0" rIns="0" bIns="0" rtlCol="0" anchor="ctr"/>
          <a:lstStyle/>
          <a:p>
            <a:pPr indent="0" marL="0">
              <a:buNone/>
            </a:pPr>
            <a:r>
              <a:rPr lang="en-US" sz="2000" b="1" dirty="0">
                <a:solidFill>
                  <a:srgbClr val="F5A524"/>
                </a:solidFill>
                <a:latin typeface="Cambria" pitchFamily="34" charset="0"/>
                <a:ea typeface="Cambria" pitchFamily="34" charset="-122"/>
                <a:cs typeface="Cambria" pitchFamily="34" charset="-120"/>
              </a:rPr>
              <a:t>+14.6 pts</a:t>
            </a:r>
            <a:endParaRPr lang="en-US" sz="2000" dirty="0"/>
          </a:p>
        </p:txBody>
      </p:sp>
      <p:sp>
        <p:nvSpPr>
          <p:cNvPr id="14" name="Text 10"/>
          <p:cNvSpPr txBox="1"/>
          <p:nvPr/>
        </p:nvSpPr>
        <p:spPr>
          <a:xfrm>
            <a:off x="3383280" y="4133088"/>
            <a:ext cx="2377440" cy="4572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above the paper's 65.3% on a stricter test</a:t>
            </a:r>
            <a:endParaRPr lang="en-US" sz="1200" dirty="0"/>
          </a:p>
        </p:txBody>
      </p:sp>
      <p:sp>
        <p:nvSpPr>
          <p:cNvPr id="15" name="Shape 11"/>
          <p:cNvSpPr/>
          <p:nvPr/>
        </p:nvSpPr>
        <p:spPr>
          <a:xfrm>
            <a:off x="6035040" y="3611880"/>
            <a:ext cx="2606040" cy="1005840"/>
          </a:xfrm>
          <a:prstGeom prst="roundRect">
            <a:avLst>
              <a:gd name="adj" fmla="val 9091"/>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16" name="Text 12"/>
          <p:cNvSpPr txBox="1"/>
          <p:nvPr/>
        </p:nvSpPr>
        <p:spPr>
          <a:xfrm>
            <a:off x="6172200" y="3675888"/>
            <a:ext cx="2377440" cy="457200"/>
          </a:xfrm>
          <a:prstGeom prst="rect">
            <a:avLst/>
          </a:prstGeom>
          <a:noFill/>
          <a:ln/>
        </p:spPr>
        <p:txBody>
          <a:bodyPr wrap="square" lIns="0" tIns="0" rIns="0" bIns="0" rtlCol="0" anchor="ctr"/>
          <a:lstStyle/>
          <a:p>
            <a:pPr indent="0" marL="0">
              <a:buNone/>
            </a:pPr>
            <a:r>
              <a:rPr lang="en-US" sz="2000" b="1" dirty="0">
                <a:solidFill>
                  <a:srgbClr val="F5A524"/>
                </a:solidFill>
                <a:latin typeface="Cambria" pitchFamily="34" charset="0"/>
                <a:ea typeface="Cambria" pitchFamily="34" charset="-122"/>
                <a:cs typeface="Cambria" pitchFamily="34" charset="-120"/>
              </a:rPr>
              <a:t>same cost</a:t>
            </a:r>
            <a:endParaRPr lang="en-US" sz="2000" dirty="0"/>
          </a:p>
        </p:txBody>
      </p:sp>
      <p:sp>
        <p:nvSpPr>
          <p:cNvPr id="17" name="Text 13"/>
          <p:cNvSpPr txBox="1"/>
          <p:nvPr/>
        </p:nvSpPr>
        <p:spPr>
          <a:xfrm>
            <a:off x="6172200" y="4133088"/>
            <a:ext cx="2377440" cy="45720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same model, loss, epochs, steps per epoch</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Ablation: crops or learning rate?</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9</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graphicFrame>
        <p:nvGraphicFramePr>
          <p:cNvPr id="6" name="Chart 0" descr=""/>
          <p:cNvGraphicFramePr/>
          <p:nvPr/>
        </p:nvGraphicFramePr>
        <p:xfrm>
          <a:off x="457200" y="105156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035040" y="1097280"/>
            <a:ext cx="2651760" cy="3520440"/>
          </a:xfrm>
          <a:prstGeom prst="roundRect">
            <a:avLst>
              <a:gd name="adj" fmla="val 3448"/>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6217920" y="1234440"/>
            <a:ext cx="2286000" cy="320040"/>
          </a:xfrm>
          <a:prstGeom prst="rect">
            <a:avLst/>
          </a:prstGeom>
          <a:noFill/>
          <a:ln/>
        </p:spPr>
        <p:txBody>
          <a:bodyPr wrap="square" lIns="0" tIns="0" rIns="0" bIns="0" rtlCol="0" anchor="t"/>
          <a:lstStyle/>
          <a:p>
            <a:pPr indent="0" marL="0">
              <a:buNone/>
            </a:pPr>
            <a:r>
              <a:rPr lang="en-US" sz="1400" b="1" dirty="0">
                <a:solidFill>
                  <a:srgbClr val="F5A524"/>
                </a:solidFill>
                <a:latin typeface="Calibri" pitchFamily="34" charset="0"/>
                <a:ea typeface="Calibri" pitchFamily="34" charset="-122"/>
                <a:cs typeface="Calibri" pitchFamily="34" charset="-120"/>
              </a:rPr>
              <a:t>An honest finding</a:t>
            </a:r>
            <a:endParaRPr lang="en-US" sz="1400" dirty="0"/>
          </a:p>
        </p:txBody>
      </p:sp>
      <p:sp>
        <p:nvSpPr>
          <p:cNvPr id="9" name="Text 5"/>
          <p:cNvSpPr txBox="1"/>
          <p:nvPr/>
        </p:nvSpPr>
        <p:spPr>
          <a:xfrm>
            <a:off x="6217920" y="1645920"/>
            <a:ext cx="2286000" cy="11887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With random crops the plain two-layer network (66.8%) matches the DSAE (66.9%).</a:t>
            </a:r>
            <a:endParaRPr lang="en-US" sz="1500" dirty="0"/>
          </a:p>
        </p:txBody>
      </p:sp>
      <p:sp>
        <p:nvSpPr>
          <p:cNvPr id="10" name="Text 6"/>
          <p:cNvSpPr txBox="1"/>
          <p:nvPr/>
        </p:nvSpPr>
        <p:spPr>
          <a:xfrm>
            <a:off x="6217920" y="2926080"/>
            <a:ext cx="2286000" cy="1554480"/>
          </a:xfrm>
          <a:prstGeom prst="rect">
            <a:avLst/>
          </a:prstGeom>
          <a:noFill/>
          <a:ln/>
        </p:spPr>
        <p:txBody>
          <a:bodyPr wrap="square" lIns="0" tIns="0" rIns="0" bIns="0" rtlCol="0" anchor="t"/>
          <a:lstStyle/>
          <a:p>
            <a:pPr indent="0" marL="0">
              <a:buNone/>
            </a:pPr>
            <a:r>
              <a:rPr lang="en-US" sz="1300" dirty="0">
                <a:solidFill>
                  <a:srgbClr val="C9D2F0"/>
                </a:solidFill>
                <a:latin typeface="Calibri" pitchFamily="34" charset="0"/>
                <a:ea typeface="Calibri" pitchFamily="34" charset="-122"/>
                <a:cs typeface="Calibri" pitchFamily="34" charset="-120"/>
              </a:rPr>
              <a:t>So the DSAE's value is its 64-dim encoding with a decoder, not its accuracy. Both new features use exactly that.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Which genres get confused</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10</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51560"/>
            <a:ext cx="4023360" cy="3566160"/>
          </a:xfrm>
          <a:prstGeom prst="roundRect">
            <a:avLst>
              <a:gd name="adj" fmla="val 256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D:/SEM-5/ML/ML ASSIGNMENT/results/figures/confusion_dsae_aug_song.png">    </p:cNvPr>
          <p:cNvPicPr>
            <a:picLocks noChangeAspect="1"/>
          </p:cNvPicPr>
          <p:nvPr/>
        </p:nvPicPr>
        <p:blipFill>
          <a:blip r:embed="rId1"/>
          <a:stretch>
            <a:fillRect/>
          </a:stretch>
        </p:blipFill>
        <p:spPr>
          <a:xfrm>
            <a:off x="548640" y="1143000"/>
            <a:ext cx="3840480" cy="3380848"/>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709160" y="1143000"/>
          <a:ext cx="3977640" cy="914400"/>
        </p:xfrm>
        <a:graphic>
          <a:graphicData uri="http://schemas.openxmlformats.org/drawingml/2006/table">
            <a:tbl>
              <a:tblPr/>
              <a:tblGrid>
                <a:gridCol w="1143000"/>
                <a:gridCol w="914400"/>
                <a:gridCol w="914400"/>
                <a:gridCol w="100584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Genre</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solidFill>
                      <a:srgbClr val="0B15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Paper F1</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solidFill>
                      <a:srgbClr val="0B15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DSAE</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solidFill>
                      <a:srgbClr val="0B153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 crops</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solidFill>
                      <a:srgbClr val="0B1530"/>
                    </a:solidFill>
                  </a:tcPr>
                </a:tc>
              </a:tr>
              <a:tr h="384048">
                <a:tc>
                  <a:txBody>
                    <a:bodyPr/>
                    <a:lstStyle/>
                    <a:p>
                      <a:pPr algn="l" indent="0" marL="0">
                        <a:buNone/>
                      </a:pPr>
                      <a:r>
                        <a:rPr lang="en-US" sz="1300" dirty="0">
                          <a:solidFill>
                            <a:srgbClr val="17224A"/>
                          </a:solidFill>
                          <a:latin typeface="Calibri" pitchFamily="34" charset="0"/>
                          <a:ea typeface="Calibri" pitchFamily="34" charset="-122"/>
                          <a:cs typeface="Calibri" pitchFamily="34" charset="-120"/>
                        </a:rPr>
                        <a:t>classical</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0.779</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0.783</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b="1" dirty="0">
                          <a:solidFill>
                            <a:srgbClr val="1AAE9F"/>
                          </a:solidFill>
                          <a:latin typeface="Calibri" pitchFamily="34" charset="0"/>
                          <a:ea typeface="Calibri" pitchFamily="34" charset="-122"/>
                          <a:cs typeface="Calibri" pitchFamily="34" charset="-120"/>
                        </a:rPr>
                        <a:t>0.835</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84048">
                <a:tc>
                  <a:txBody>
                    <a:bodyPr/>
                    <a:lstStyle/>
                    <a:p>
                      <a:pPr algn="l" indent="0" marL="0">
                        <a:buNone/>
                      </a:pPr>
                      <a:r>
                        <a:rPr lang="en-US" sz="1300" dirty="0">
                          <a:solidFill>
                            <a:srgbClr val="17224A"/>
                          </a:solidFill>
                          <a:latin typeface="Calibri" pitchFamily="34" charset="0"/>
                          <a:ea typeface="Calibri" pitchFamily="34" charset="-122"/>
                          <a:cs typeface="Calibri" pitchFamily="34" charset="-120"/>
                        </a:rPr>
                        <a:t>jazz</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0.616</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0.429</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b="1" dirty="0">
                          <a:solidFill>
                            <a:srgbClr val="1AAE9F"/>
                          </a:solidFill>
                          <a:latin typeface="Calibri" pitchFamily="34" charset="0"/>
                          <a:ea typeface="Calibri" pitchFamily="34" charset="-122"/>
                          <a:cs typeface="Calibri" pitchFamily="34" charset="-120"/>
                        </a:rPr>
                        <a:t>0.591</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84048">
                <a:tc>
                  <a:txBody>
                    <a:bodyPr/>
                    <a:lstStyle/>
                    <a:p>
                      <a:pPr algn="l" indent="0" marL="0">
                        <a:buNone/>
                      </a:pPr>
                      <a:r>
                        <a:rPr lang="en-US" sz="1300" dirty="0">
                          <a:solidFill>
                            <a:srgbClr val="17224A"/>
                          </a:solidFill>
                          <a:latin typeface="Calibri" pitchFamily="34" charset="0"/>
                          <a:ea typeface="Calibri" pitchFamily="34" charset="-122"/>
                          <a:cs typeface="Calibri" pitchFamily="34" charset="-120"/>
                        </a:rPr>
                        <a:t>metal</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0.534</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0.402</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b="1" dirty="0">
                          <a:solidFill>
                            <a:srgbClr val="1AAE9F"/>
                          </a:solidFill>
                          <a:latin typeface="Calibri" pitchFamily="34" charset="0"/>
                          <a:ea typeface="Calibri" pitchFamily="34" charset="-122"/>
                          <a:cs typeface="Calibri" pitchFamily="34" charset="-120"/>
                        </a:rPr>
                        <a:t>0.555</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r h="384048">
                <a:tc>
                  <a:txBody>
                    <a:bodyPr/>
                    <a:lstStyle/>
                    <a:p>
                      <a:pPr algn="l" indent="0" marL="0">
                        <a:buNone/>
                      </a:pPr>
                      <a:r>
                        <a:rPr lang="en-US" sz="1300" dirty="0">
                          <a:solidFill>
                            <a:srgbClr val="17224A"/>
                          </a:solidFill>
                          <a:latin typeface="Calibri" pitchFamily="34" charset="0"/>
                          <a:ea typeface="Calibri" pitchFamily="34" charset="-122"/>
                          <a:cs typeface="Calibri" pitchFamily="34" charset="-120"/>
                        </a:rPr>
                        <a:t>pop</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0.638</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dirty="0">
                          <a:solidFill>
                            <a:srgbClr val="17224A"/>
                          </a:solidFill>
                          <a:latin typeface="Calibri" pitchFamily="34" charset="0"/>
                          <a:ea typeface="Calibri" pitchFamily="34" charset="-122"/>
                          <a:cs typeface="Calibri" pitchFamily="34" charset="-120"/>
                        </a:rPr>
                        <a:t>0.440</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c>
                  <a:txBody>
                    <a:bodyPr/>
                    <a:lstStyle/>
                    <a:p>
                      <a:pPr algn="ctr" indent="0" marL="0">
                        <a:buNone/>
                      </a:pPr>
                      <a:r>
                        <a:rPr lang="en-US" sz="1300" b="1" dirty="0">
                          <a:solidFill>
                            <a:srgbClr val="1AAE9F"/>
                          </a:solidFill>
                          <a:latin typeface="Calibri" pitchFamily="34" charset="0"/>
                          <a:ea typeface="Calibri" pitchFamily="34" charset="-122"/>
                          <a:cs typeface="Calibri" pitchFamily="34" charset="-120"/>
                        </a:rPr>
                        <a:t>0.665</a:t>
                      </a:r>
                      <a:endParaRPr lang="en-US" sz="1300" dirty="0">
                        <a:latin typeface="Calibri" charset="0"/>
                        <a:ea typeface="Calibri" charset="0"/>
                        <a:cs typeface="Calibri" charset="0"/>
                      </a:endParaRPr>
                    </a:p>
                  </a:txBody>
                  <a:tcPr marL="91440" marR="91440" marT="45720" marB="45720">
                    <a:lnL w="6350" cap="flat" cmpd="sng" algn="ctr">
                      <a:solidFill>
                        <a:srgbClr val="E6E9F4"/>
                      </a:solidFill>
                      <a:prstDash val="solid"/>
                      <a:round/>
                      <a:headEnd type="none" w="med" len="med"/>
                      <a:tailEnd type="none" w="med" len="med"/>
                    </a:lnL>
                    <a:lnR w="6350" cap="flat" cmpd="sng" algn="ctr">
                      <a:solidFill>
                        <a:srgbClr val="E6E9F4"/>
                      </a:solidFill>
                      <a:prstDash val="solid"/>
                      <a:round/>
                      <a:headEnd type="none" w="med" len="med"/>
                      <a:tailEnd type="none" w="med" len="med"/>
                    </a:lnR>
                    <a:lnT w="6350" cap="flat" cmpd="sng" algn="ctr">
                      <a:solidFill>
                        <a:srgbClr val="E6E9F4"/>
                      </a:solidFill>
                      <a:prstDash val="solid"/>
                      <a:round/>
                      <a:headEnd type="none" w="med" len="med"/>
                      <a:tailEnd type="none" w="med" len="med"/>
                    </a:lnT>
                    <a:lnB w="6350" cap="flat" cmpd="sng" algn="ctr">
                      <a:solidFill>
                        <a:srgbClr val="E6E9F4"/>
                      </a:solidFill>
                      <a:prstDash val="solid"/>
                      <a:round/>
                      <a:headEnd type="none" w="med" len="med"/>
                      <a:tailEnd type="none" w="med" len="med"/>
                    </a:lnB>
                  </a:tcPr>
                </a:tc>
              </a:tr>
            </a:tbl>
          </a:graphicData>
        </a:graphic>
      </p:graphicFrame>
      <p:sp>
        <p:nvSpPr>
          <p:cNvPr id="9" name="Shape 4"/>
          <p:cNvSpPr/>
          <p:nvPr/>
        </p:nvSpPr>
        <p:spPr>
          <a:xfrm>
            <a:off x="4709160" y="3200400"/>
            <a:ext cx="3977640" cy="1417320"/>
          </a:xfrm>
          <a:prstGeom prst="roundRect">
            <a:avLst>
              <a:gd name="adj" fmla="val 645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Text 5"/>
          <p:cNvSpPr txBox="1"/>
          <p:nvPr/>
        </p:nvSpPr>
        <p:spPr>
          <a:xfrm>
            <a:off x="4892040" y="3310128"/>
            <a:ext cx="3657600" cy="1234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Classical is easiest, as in the paper</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Errors are between genres neighbouring in loudness</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Whole-song vote: 70% of 50 unseen songs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What do the encodings actually hold?</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11</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graphicFrame>
        <p:nvGraphicFramePr>
          <p:cNvPr id="6" name="Chart 0" descr=""/>
          <p:cNvGraphicFramePr/>
          <p:nvPr/>
        </p:nvGraphicFramePr>
        <p:xfrm>
          <a:off x="457200" y="1051560"/>
          <a:ext cx="4754880" cy="36118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440680" y="1097280"/>
            <a:ext cx="3246120" cy="3520440"/>
          </a:xfrm>
          <a:prstGeom prst="roundRect">
            <a:avLst>
              <a:gd name="adj" fmla="val 2817"/>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5623560" y="1234440"/>
            <a:ext cx="2926080" cy="320040"/>
          </a:xfrm>
          <a:prstGeom prst="rect">
            <a:avLst/>
          </a:prstGeom>
          <a:noFill/>
          <a:ln/>
        </p:spPr>
        <p:txBody>
          <a:bodyPr wrap="square" lIns="0" tIns="0" rIns="0" bIns="0" rtlCol="0" anchor="t"/>
          <a:lstStyle/>
          <a:p>
            <a:pPr indent="0" marL="0">
              <a:buNone/>
            </a:pPr>
            <a:r>
              <a:rPr lang="en-US" sz="1400" b="1" dirty="0">
                <a:solidFill>
                  <a:srgbClr val="0B1530"/>
                </a:solidFill>
                <a:latin typeface="Calibri" pitchFamily="34" charset="0"/>
                <a:ea typeface="Calibri" pitchFamily="34" charset="-122"/>
                <a:cs typeface="Calibri" pitchFamily="34" charset="-120"/>
              </a:rPr>
              <a:t>How to read it</a:t>
            </a:r>
            <a:endParaRPr lang="en-US" sz="1400" dirty="0"/>
          </a:p>
        </p:txBody>
      </p:sp>
      <p:sp>
        <p:nvSpPr>
          <p:cNvPr id="9" name="Text 5"/>
          <p:cNvSpPr txBox="1"/>
          <p:nvPr/>
        </p:nvSpPr>
        <p:spPr>
          <a:xfrm>
            <a:off x="5623560" y="1645920"/>
            <a:ext cx="292608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Loudness alone gives 62.0%, more than the paper-style DSAE</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The vanilla autoencoder keeps almost no genre: no labels, no reason to</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Only the crops-trained DSAE encoding beats loudness (66.2%)</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Average clip RMS rises: classical 0.020, jazz 0.053, metal 0.105, pop 0.148</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New feature 1: Genre morph</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12</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51560"/>
            <a:ext cx="4846320" cy="3566160"/>
          </a:xfrm>
          <a:prstGeom prst="roundRect">
            <a:avLst>
              <a:gd name="adj" fmla="val 256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pic>
        <p:nvPicPr>
          <p:cNvPr id="7" name="Image 0" descr="D:/SEM-5/ML/ML ASSIGNMENT/results/figures/interpolation_song.png">    </p:cNvPr>
          <p:cNvPicPr>
            <a:picLocks noChangeAspect="1"/>
          </p:cNvPicPr>
          <p:nvPr/>
        </p:nvPicPr>
        <p:blipFill>
          <a:blip r:embed="rId1"/>
          <a:stretch>
            <a:fillRect/>
          </a:stretch>
        </p:blipFill>
        <p:spPr>
          <a:xfrm>
            <a:off x="548640" y="1143000"/>
            <a:ext cx="4663440" cy="3017179"/>
          </a:xfrm>
          <a:prstGeom prst="rect">
            <a:avLst/>
          </a:prstGeom>
        </p:spPr>
      </p:pic>
      <p:sp>
        <p:nvSpPr>
          <p:cNvPr id="8" name="Text 4"/>
          <p:cNvSpPr txBox="1"/>
          <p:nvPr/>
        </p:nvSpPr>
        <p:spPr>
          <a:xfrm>
            <a:off x="5532120" y="1097280"/>
            <a:ext cx="3154680" cy="411480"/>
          </a:xfrm>
          <a:prstGeom prst="rect">
            <a:avLst/>
          </a:prstGeom>
          <a:noFill/>
          <a:ln/>
        </p:spPr>
        <p:txBody>
          <a:bodyPr wrap="square" lIns="0" tIns="0" rIns="0" bIns="0" rtlCol="0" anchor="t"/>
          <a:lstStyle/>
          <a:p>
            <a:pPr indent="0" marL="0">
              <a:buNone/>
            </a:pPr>
            <a:r>
              <a:rPr lang="en-US" sz="1800" b="1" dirty="0">
                <a:solidFill>
                  <a:srgbClr val="0B1530"/>
                </a:solidFill>
                <a:latin typeface="Cambria" pitchFamily="34" charset="0"/>
                <a:ea typeface="Cambria" pitchFamily="34" charset="-122"/>
                <a:cs typeface="Cambria" pitchFamily="34" charset="-120"/>
              </a:rPr>
              <a:t>z(t) = (1 − t) · zA + t · zB</a:t>
            </a:r>
            <a:endParaRPr lang="en-US" sz="1800" dirty="0"/>
          </a:p>
        </p:txBody>
      </p:sp>
      <p:sp>
        <p:nvSpPr>
          <p:cNvPr id="9" name="Text 5"/>
          <p:cNvSpPr txBox="1"/>
          <p:nvPr/>
        </p:nvSpPr>
        <p:spPr>
          <a:xfrm>
            <a:off x="5532120" y="1600200"/>
            <a:ext cx="3154680" cy="20116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Walk a straight line between two 64-dim encodings; classify and decode every step</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Genres form a chain: classical, jazz, metal, pop, the order of loudness</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Classical to metal passes through jazz on 100% of walks</a:t>
            </a:r>
            <a:endParaRPr lang="en-US" sz="1300" dirty="0"/>
          </a:p>
        </p:txBody>
      </p:sp>
      <p:sp>
        <p:nvSpPr>
          <p:cNvPr id="10" name="Shape 6"/>
          <p:cNvSpPr/>
          <p:nvPr/>
        </p:nvSpPr>
        <p:spPr>
          <a:xfrm>
            <a:off x="5532120" y="3611880"/>
            <a:ext cx="1508760" cy="1005840"/>
          </a:xfrm>
          <a:prstGeom prst="roundRect">
            <a:avLst>
              <a:gd name="adj" fmla="val 9091"/>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11" name="Text 7"/>
          <p:cNvSpPr txBox="1"/>
          <p:nvPr/>
        </p:nvSpPr>
        <p:spPr>
          <a:xfrm>
            <a:off x="5577840" y="3639312"/>
            <a:ext cx="1417320" cy="502920"/>
          </a:xfrm>
          <a:prstGeom prst="rect">
            <a:avLst/>
          </a:prstGeom>
          <a:noFill/>
          <a:ln/>
        </p:spPr>
        <p:txBody>
          <a:bodyPr wrap="square" lIns="0" tIns="0" rIns="0" bIns="0" rtlCol="0" anchor="ctr"/>
          <a:lstStyle/>
          <a:p>
            <a:pPr algn="ctr" indent="0" marL="0">
              <a:buNone/>
            </a:pPr>
            <a:r>
              <a:rPr lang="en-US" sz="2600" b="1" dirty="0">
                <a:solidFill>
                  <a:srgbClr val="F5A524"/>
                </a:solidFill>
                <a:latin typeface="Cambria" pitchFamily="34" charset="0"/>
                <a:ea typeface="Cambria" pitchFamily="34" charset="-122"/>
                <a:cs typeface="Cambria" pitchFamily="34" charset="-120"/>
              </a:rPr>
              <a:t>92%</a:t>
            </a:r>
            <a:endParaRPr lang="en-US" sz="2600" dirty="0"/>
          </a:p>
        </p:txBody>
      </p:sp>
      <p:sp>
        <p:nvSpPr>
          <p:cNvPr id="12" name="Text 8"/>
          <p:cNvSpPr txBox="1"/>
          <p:nvPr/>
        </p:nvSpPr>
        <p:spPr>
          <a:xfrm>
            <a:off x="5577840" y="4114800"/>
            <a:ext cx="1417320"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latent walks steady</a:t>
            </a:r>
            <a:endParaRPr lang="en-US" sz="1100" dirty="0"/>
          </a:p>
        </p:txBody>
      </p:sp>
      <p:sp>
        <p:nvSpPr>
          <p:cNvPr id="13" name="Shape 9"/>
          <p:cNvSpPr/>
          <p:nvPr/>
        </p:nvSpPr>
        <p:spPr>
          <a:xfrm>
            <a:off x="7178040" y="3611880"/>
            <a:ext cx="1508760" cy="1005840"/>
          </a:xfrm>
          <a:prstGeom prst="roundRect">
            <a:avLst>
              <a:gd name="adj" fmla="val 9091"/>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14" name="Text 10"/>
          <p:cNvSpPr txBox="1"/>
          <p:nvPr/>
        </p:nvSpPr>
        <p:spPr>
          <a:xfrm>
            <a:off x="7223760" y="3639312"/>
            <a:ext cx="1417320" cy="502920"/>
          </a:xfrm>
          <a:prstGeom prst="rect">
            <a:avLst/>
          </a:prstGeom>
          <a:noFill/>
          <a:ln/>
        </p:spPr>
        <p:txBody>
          <a:bodyPr wrap="square" lIns="0" tIns="0" rIns="0" bIns="0" rtlCol="0" anchor="ctr"/>
          <a:lstStyle/>
          <a:p>
            <a:pPr algn="ctr" indent="0" marL="0">
              <a:buNone/>
            </a:pPr>
            <a:r>
              <a:rPr lang="en-US" sz="2600" b="1" dirty="0">
                <a:solidFill>
                  <a:srgbClr val="C9D2F0"/>
                </a:solidFill>
                <a:latin typeface="Cambria" pitchFamily="34" charset="0"/>
                <a:ea typeface="Cambria" pitchFamily="34" charset="-122"/>
                <a:cs typeface="Cambria" pitchFamily="34" charset="-120"/>
              </a:rPr>
              <a:t>70%</a:t>
            </a:r>
            <a:endParaRPr lang="en-US" sz="2600" dirty="0"/>
          </a:p>
        </p:txBody>
      </p:sp>
      <p:sp>
        <p:nvSpPr>
          <p:cNvPr id="15" name="Text 11"/>
          <p:cNvSpPr txBox="1"/>
          <p:nvPr/>
        </p:nvSpPr>
        <p:spPr>
          <a:xfrm>
            <a:off x="7223760" y="4114800"/>
            <a:ext cx="1417320" cy="45720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audio cross-fades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New feature 2: Similar-song search</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13</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graphicFrame>
        <p:nvGraphicFramePr>
          <p:cNvPr id="6" name="Chart 0" descr=""/>
          <p:cNvGraphicFramePr/>
          <p:nvPr/>
        </p:nvGraphicFramePr>
        <p:xfrm>
          <a:off x="457200" y="1051560"/>
          <a:ext cx="5120640" cy="36118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5806440" y="1097280"/>
            <a:ext cx="2880360" cy="3520440"/>
          </a:xfrm>
          <a:prstGeom prst="roundRect">
            <a:avLst>
              <a:gd name="adj" fmla="val 317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5989320" y="1280160"/>
            <a:ext cx="256032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Fingerprint: mean clip encoding, centred, unit length</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Similarity: cosine; library of 300 songs, 100 unseen queries</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Nearest song has the right genre 68% of the time</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Labels matter: the unsupervised autoencoder is worst (41%)</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Experiment: the loss weight γ</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14</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graphicFrame>
        <p:nvGraphicFramePr>
          <p:cNvPr id="6" name="Chart 0" descr=""/>
          <p:cNvGraphicFramePr/>
          <p:nvPr/>
        </p:nvGraphicFramePr>
        <p:xfrm>
          <a:off x="457200" y="1051560"/>
          <a:ext cx="5394960" cy="361188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035040" y="1097280"/>
            <a:ext cx="2651760" cy="3520440"/>
          </a:xfrm>
          <a:prstGeom prst="roundRect">
            <a:avLst>
              <a:gd name="adj" fmla="val 3448"/>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8" name="Text 4"/>
          <p:cNvSpPr txBox="1"/>
          <p:nvPr/>
        </p:nvSpPr>
        <p:spPr>
          <a:xfrm>
            <a:off x="6217920" y="1280160"/>
            <a:ext cx="2331720" cy="32004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γ = 0: only a classifier; γ = 1: only an autoencoder</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Accuracy peaks at the paper's γ = 0.9</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At 0.99 the classification signal is too weak</a:t>
            </a:r>
            <a:endParaRPr lang="en-US" sz="1300" dirty="0"/>
          </a:p>
          <a:p>
            <a:pPr marL="342900" indent="-342900">
              <a:spcAft>
                <a:spcPts val="600"/>
              </a:spcAft>
              <a:buSzPct val="100000"/>
              <a:buChar char="•"/>
            </a:pPr>
            <a:r>
              <a:rPr lang="en-US" sz="1300" dirty="0">
                <a:solidFill>
                  <a:srgbClr val="17224A"/>
                </a:solidFill>
                <a:latin typeface="Calibri" pitchFamily="34" charset="0"/>
                <a:ea typeface="Calibri" pitchFamily="34" charset="-122"/>
                <a:cs typeface="Calibri" pitchFamily="34" charset="-120"/>
              </a:rPr>
              <a:t>Test reconstruction MSE falls from 1.06 (γ=0) to 0.73 (γ=1)</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Live demo and engineering</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15</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97280"/>
            <a:ext cx="260604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594360" y="1234440"/>
            <a:ext cx="384048" cy="384048"/>
          </a:xfrm>
          <a:prstGeom prst="ellipse">
            <a:avLst/>
          </a:prstGeom>
          <a:solidFill>
            <a:srgbClr val="F5A524"/>
          </a:solidFill>
          <a:ln w="12700">
            <a:solidFill>
              <a:srgbClr val="F5A524"/>
            </a:solidFill>
            <a:prstDash val="solid"/>
          </a:ln>
        </p:spPr>
      </p:sp>
      <p:sp>
        <p:nvSpPr>
          <p:cNvPr id="8" name="Text 5"/>
          <p:cNvSpPr txBox="1"/>
          <p:nvPr/>
        </p:nvSpPr>
        <p:spPr>
          <a:xfrm>
            <a:off x="594360" y="1234440"/>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097280" y="1234440"/>
            <a:ext cx="1828800" cy="384048"/>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Live demo</a:t>
            </a:r>
            <a:endParaRPr lang="en-US" sz="1500" dirty="0"/>
          </a:p>
        </p:txBody>
      </p:sp>
      <p:sp>
        <p:nvSpPr>
          <p:cNvPr id="10" name="Text 7"/>
          <p:cNvSpPr txBox="1"/>
          <p:nvPr/>
        </p:nvSpPr>
        <p:spPr>
          <a:xfrm>
            <a:off x="594360" y="1691640"/>
            <a:ext cx="2331720" cy="1005840"/>
          </a:xfrm>
          <a:prstGeom prst="rect">
            <a:avLst/>
          </a:prstGeom>
          <a:noFill/>
          <a:ln/>
        </p:spPr>
        <p:txBody>
          <a:bodyPr wrap="square" lIns="0" tIns="0" rIns="0" bIns="0" rtlCol="0" anchor="t"/>
          <a:lstStyle/>
          <a:p>
            <a:pPr indent="0" marL="0">
              <a:buNone/>
            </a:pPr>
            <a:r>
              <a:rPr lang="en-US" sz="1200" dirty="0">
                <a:solidFill>
                  <a:srgbClr val="17224A"/>
                </a:solidFill>
                <a:latin typeface="Calibri" pitchFamily="34" charset="0"/>
                <a:ea typeface="Calibri" pitchFamily="34" charset="-122"/>
                <a:cs typeface="Calibri" pitchFamily="34" charset="-120"/>
              </a:rPr>
              <a:t>Pick a held-out song or upload one: genre, clip-by-clip vote, position in the latent map, decoder reconstruction, and the pooled audio the network hears.</a:t>
            </a:r>
            <a:endParaRPr lang="en-US" sz="1200" dirty="0"/>
          </a:p>
        </p:txBody>
      </p:sp>
      <p:sp>
        <p:nvSpPr>
          <p:cNvPr id="11" name="Shape 8"/>
          <p:cNvSpPr/>
          <p:nvPr/>
        </p:nvSpPr>
        <p:spPr>
          <a:xfrm>
            <a:off x="3200400" y="1097280"/>
            <a:ext cx="260604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3337560" y="1234440"/>
            <a:ext cx="384048" cy="384048"/>
          </a:xfrm>
          <a:prstGeom prst="ellipse">
            <a:avLst/>
          </a:prstGeom>
          <a:solidFill>
            <a:srgbClr val="1AAE9F"/>
          </a:solidFill>
          <a:ln w="12700">
            <a:solidFill>
              <a:srgbClr val="1AAE9F"/>
            </a:solidFill>
            <a:prstDash val="solid"/>
          </a:ln>
        </p:spPr>
      </p:sp>
      <p:sp>
        <p:nvSpPr>
          <p:cNvPr id="13" name="Text 10"/>
          <p:cNvSpPr txBox="1"/>
          <p:nvPr/>
        </p:nvSpPr>
        <p:spPr>
          <a:xfrm>
            <a:off x="3337560" y="1234440"/>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3840480" y="1234440"/>
            <a:ext cx="1828800" cy="384048"/>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Genre morph</a:t>
            </a:r>
            <a:endParaRPr lang="en-US" sz="1500" dirty="0"/>
          </a:p>
        </p:txBody>
      </p:sp>
      <p:sp>
        <p:nvSpPr>
          <p:cNvPr id="15" name="Text 12"/>
          <p:cNvSpPr txBox="1"/>
          <p:nvPr/>
        </p:nvSpPr>
        <p:spPr>
          <a:xfrm>
            <a:off x="3337560" y="1691640"/>
            <a:ext cx="2331720" cy="1005840"/>
          </a:xfrm>
          <a:prstGeom prst="rect">
            <a:avLst/>
          </a:prstGeom>
          <a:noFill/>
          <a:ln/>
        </p:spPr>
        <p:txBody>
          <a:bodyPr wrap="square" lIns="0" tIns="0" rIns="0" bIns="0" rtlCol="0" anchor="t"/>
          <a:lstStyle/>
          <a:p>
            <a:pPr indent="0" marL="0">
              <a:buNone/>
            </a:pPr>
            <a:r>
              <a:rPr lang="en-US" sz="1200" dirty="0">
                <a:solidFill>
                  <a:srgbClr val="17224A"/>
                </a:solidFill>
                <a:latin typeface="Calibri" pitchFamily="34" charset="0"/>
                <a:ea typeface="Calibri" pitchFamily="34" charset="-122"/>
                <a:cs typeface="Calibri" pitchFamily="34" charset="-120"/>
              </a:rPr>
              <a:t>Choose two songs and drag a slider from A to B: probability curves, path on the latent map, decoded waveform.</a:t>
            </a:r>
            <a:endParaRPr lang="en-US" sz="1200" dirty="0"/>
          </a:p>
        </p:txBody>
      </p:sp>
      <p:sp>
        <p:nvSpPr>
          <p:cNvPr id="16" name="Shape 13"/>
          <p:cNvSpPr/>
          <p:nvPr/>
        </p:nvSpPr>
        <p:spPr>
          <a:xfrm>
            <a:off x="457200" y="2880360"/>
            <a:ext cx="260604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594360" y="3017520"/>
            <a:ext cx="384048" cy="384048"/>
          </a:xfrm>
          <a:prstGeom prst="ellipse">
            <a:avLst/>
          </a:prstGeom>
          <a:solidFill>
            <a:srgbClr val="F5A524"/>
          </a:solidFill>
          <a:ln w="12700">
            <a:solidFill>
              <a:srgbClr val="F5A524"/>
            </a:solidFill>
            <a:prstDash val="solid"/>
          </a:ln>
        </p:spPr>
      </p:sp>
      <p:sp>
        <p:nvSpPr>
          <p:cNvPr id="18" name="Text 15"/>
          <p:cNvSpPr txBox="1"/>
          <p:nvPr/>
        </p:nvSpPr>
        <p:spPr>
          <a:xfrm>
            <a:off x="594360" y="3017520"/>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3</a:t>
            </a:r>
            <a:endParaRPr lang="en-US" sz="1400" dirty="0"/>
          </a:p>
        </p:txBody>
      </p:sp>
      <p:sp>
        <p:nvSpPr>
          <p:cNvPr id="19" name="Text 16"/>
          <p:cNvSpPr txBox="1"/>
          <p:nvPr/>
        </p:nvSpPr>
        <p:spPr>
          <a:xfrm>
            <a:off x="1097280" y="3017520"/>
            <a:ext cx="1828800" cy="384048"/>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Similar songs</a:t>
            </a:r>
            <a:endParaRPr lang="en-US" sz="1500" dirty="0"/>
          </a:p>
        </p:txBody>
      </p:sp>
      <p:sp>
        <p:nvSpPr>
          <p:cNvPr id="20" name="Text 17"/>
          <p:cNvSpPr txBox="1"/>
          <p:nvPr/>
        </p:nvSpPr>
        <p:spPr>
          <a:xfrm>
            <a:off x="594360" y="3474720"/>
            <a:ext cx="2331720" cy="1005840"/>
          </a:xfrm>
          <a:prstGeom prst="rect">
            <a:avLst/>
          </a:prstGeom>
          <a:noFill/>
          <a:ln/>
        </p:spPr>
        <p:txBody>
          <a:bodyPr wrap="square" lIns="0" tIns="0" rIns="0" bIns="0" rtlCol="0" anchor="t"/>
          <a:lstStyle/>
          <a:p>
            <a:pPr indent="0" marL="0">
              <a:buNone/>
            </a:pPr>
            <a:r>
              <a:rPr lang="en-US" sz="1200" dirty="0">
                <a:solidFill>
                  <a:srgbClr val="17224A"/>
                </a:solidFill>
                <a:latin typeface="Calibri" pitchFamily="34" charset="0"/>
                <a:ea typeface="Calibri" pitchFamily="34" charset="-122"/>
                <a:cs typeface="Calibri" pitchFamily="34" charset="-120"/>
              </a:rPr>
              <a:t>The five nearest library songs with players, plus a map of the whole library.</a:t>
            </a:r>
            <a:endParaRPr lang="en-US" sz="1200" dirty="0"/>
          </a:p>
        </p:txBody>
      </p:sp>
      <p:sp>
        <p:nvSpPr>
          <p:cNvPr id="21" name="Shape 18"/>
          <p:cNvSpPr/>
          <p:nvPr/>
        </p:nvSpPr>
        <p:spPr>
          <a:xfrm>
            <a:off x="3200400" y="2880360"/>
            <a:ext cx="260604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3337560" y="3017520"/>
            <a:ext cx="384048" cy="384048"/>
          </a:xfrm>
          <a:prstGeom prst="ellipse">
            <a:avLst/>
          </a:prstGeom>
          <a:solidFill>
            <a:srgbClr val="1AAE9F"/>
          </a:solidFill>
          <a:ln w="12700">
            <a:solidFill>
              <a:srgbClr val="1AAE9F"/>
            </a:solidFill>
            <a:prstDash val="solid"/>
          </a:ln>
        </p:spPr>
      </p:sp>
      <p:sp>
        <p:nvSpPr>
          <p:cNvPr id="23" name="Text 20"/>
          <p:cNvSpPr txBox="1"/>
          <p:nvPr/>
        </p:nvSpPr>
        <p:spPr>
          <a:xfrm>
            <a:off x="3337560" y="3017520"/>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3840480" y="3017520"/>
            <a:ext cx="1828800" cy="384048"/>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Project results</a:t>
            </a:r>
            <a:endParaRPr lang="en-US" sz="1500" dirty="0"/>
          </a:p>
        </p:txBody>
      </p:sp>
      <p:sp>
        <p:nvSpPr>
          <p:cNvPr id="25" name="Text 22"/>
          <p:cNvSpPr txBox="1"/>
          <p:nvPr/>
        </p:nvSpPr>
        <p:spPr>
          <a:xfrm>
            <a:off x="3337560" y="3474720"/>
            <a:ext cx="2331720" cy="1005840"/>
          </a:xfrm>
          <a:prstGeom prst="rect">
            <a:avLst/>
          </a:prstGeom>
          <a:noFill/>
          <a:ln/>
        </p:spPr>
        <p:txBody>
          <a:bodyPr wrap="square" lIns="0" tIns="0" rIns="0" bIns="0" rtlCol="0" anchor="t"/>
          <a:lstStyle/>
          <a:p>
            <a:pPr indent="0" marL="0">
              <a:buNone/>
            </a:pPr>
            <a:r>
              <a:rPr lang="en-US" sz="1200" dirty="0">
                <a:solidFill>
                  <a:srgbClr val="17224A"/>
                </a:solidFill>
                <a:latin typeface="Calibri" pitchFamily="34" charset="0"/>
                <a:ea typeface="Calibri" pitchFamily="34" charset="-122"/>
                <a:cs typeface="Calibri" pitchFamily="34" charset="-120"/>
              </a:rPr>
              <a:t>Every table and figure from results/, for both split protocols.</a:t>
            </a:r>
            <a:endParaRPr lang="en-US" sz="1200" dirty="0"/>
          </a:p>
        </p:txBody>
      </p:sp>
      <p:sp>
        <p:nvSpPr>
          <p:cNvPr id="26" name="Shape 23"/>
          <p:cNvSpPr/>
          <p:nvPr/>
        </p:nvSpPr>
        <p:spPr>
          <a:xfrm>
            <a:off x="6126480" y="1097280"/>
            <a:ext cx="2560320" cy="3429000"/>
          </a:xfrm>
          <a:prstGeom prst="roundRect">
            <a:avLst>
              <a:gd name="adj" fmla="val 3571"/>
            </a:avLst>
          </a:prstGeom>
          <a:solidFill>
            <a:srgbClr val="0B1530"/>
          </a:solidFill>
          <a:ln w="12700">
            <a:solidFill>
              <a:srgbClr val="0B1530"/>
            </a:solidFill>
            <a:prstDash val="solid"/>
          </a:ln>
          <a:effectLst>
            <a:outerShdw sx="100000" sy="100000" kx="0" ky="0" algn="bl" rotWithShape="0" blurRad="101600" dist="25400" dir="5400000">
              <a:srgbClr val="000000">
                <a:alpha val="12000"/>
              </a:srgbClr>
            </a:outerShdw>
          </a:effectLst>
        </p:spPr>
      </p:sp>
      <p:sp>
        <p:nvSpPr>
          <p:cNvPr id="27" name="Text 24"/>
          <p:cNvSpPr txBox="1"/>
          <p:nvPr/>
        </p:nvSpPr>
        <p:spPr>
          <a:xfrm>
            <a:off x="6309360" y="1234440"/>
            <a:ext cx="2194560" cy="320040"/>
          </a:xfrm>
          <a:prstGeom prst="rect">
            <a:avLst/>
          </a:prstGeom>
          <a:noFill/>
          <a:ln/>
        </p:spPr>
        <p:txBody>
          <a:bodyPr wrap="square" lIns="0" tIns="0" rIns="0" bIns="0" rtlCol="0" anchor="t"/>
          <a:lstStyle/>
          <a:p>
            <a:pPr indent="0" marL="0">
              <a:buNone/>
            </a:pPr>
            <a:r>
              <a:rPr lang="en-US" sz="1400" b="1" dirty="0">
                <a:solidFill>
                  <a:srgbClr val="F5A524"/>
                </a:solidFill>
                <a:latin typeface="Calibri" pitchFamily="34" charset="0"/>
                <a:ea typeface="Calibri" pitchFamily="34" charset="-122"/>
                <a:cs typeface="Calibri" pitchFamily="34" charset="-120"/>
              </a:rPr>
              <a:t>Engineering</a:t>
            </a:r>
            <a:endParaRPr lang="en-US" sz="1400" dirty="0"/>
          </a:p>
        </p:txBody>
      </p:sp>
      <p:sp>
        <p:nvSpPr>
          <p:cNvPr id="28" name="Text 25"/>
          <p:cNvSpPr txBox="1"/>
          <p:nvPr/>
        </p:nvSpPr>
        <p:spPr>
          <a:xfrm>
            <a:off x="6309360" y="1645920"/>
            <a:ext cx="2240280" cy="28346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PyTorch on a laptop CPU, under 5 minutes per model</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Every random choice seeded</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20 unit tests, about 15 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One command rebuilds all tables and figures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Config marks every value: paper or ours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B1530"/>
                </a:solidFill>
                <a:latin typeface="Cambria" pitchFamily="34" charset="0"/>
                <a:ea typeface="Cambria" pitchFamily="34" charset="-122"/>
                <a:cs typeface="Cambria" pitchFamily="34" charset="-120"/>
              </a:rPr>
              <a:t>Limits we should state</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5A6385"/>
                </a:solidFill>
                <a:latin typeface="Calibri" pitchFamily="34" charset="0"/>
                <a:ea typeface="Calibri" pitchFamily="34" charset="-122"/>
                <a:cs typeface="Calibri" pitchFamily="34" charset="-120"/>
              </a:rPr>
              <a:t>16</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5A6385"/>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97280"/>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280160"/>
            <a:ext cx="365760" cy="365760"/>
          </a:xfrm>
          <a:prstGeom prst="ellipse">
            <a:avLst/>
          </a:prstGeom>
          <a:solidFill>
            <a:srgbClr val="E4572E"/>
          </a:solidFill>
          <a:ln w="12700">
            <a:solidFill>
              <a:srgbClr val="E4572E"/>
            </a:solidFill>
            <a:prstDash val="solid"/>
          </a:ln>
        </p:spPr>
      </p:sp>
      <p:sp>
        <p:nvSpPr>
          <p:cNvPr id="8" name="Text 5"/>
          <p:cNvSpPr txBox="1"/>
          <p:nvPr/>
        </p:nvSpPr>
        <p:spPr>
          <a:xfrm>
            <a:off x="64008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Text 6"/>
          <p:cNvSpPr txBox="1"/>
          <p:nvPr/>
        </p:nvSpPr>
        <p:spPr>
          <a:xfrm>
            <a:off x="1143000" y="1280160"/>
            <a:ext cx="3200400" cy="365760"/>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Band-limited input</a:t>
            </a:r>
            <a:endParaRPr lang="en-US" sz="1500" dirty="0"/>
          </a:p>
        </p:txBody>
      </p:sp>
      <p:sp>
        <p:nvSpPr>
          <p:cNvPr id="10" name="Text 7"/>
          <p:cNvSpPr txBox="1"/>
          <p:nvPr/>
        </p:nvSpPr>
        <p:spPr>
          <a:xfrm>
            <a:off x="640080" y="1783080"/>
            <a:ext cx="3657600" cy="914400"/>
          </a:xfrm>
          <a:prstGeom prst="rect">
            <a:avLst/>
          </a:prstGeom>
          <a:noFill/>
          <a:ln/>
        </p:spPr>
        <p:txBody>
          <a:bodyPr wrap="square" lIns="0" tIns="0" rIns="0" bIns="0" rtlCol="0" anchor="t"/>
          <a:lstStyle/>
          <a:p>
            <a:pPr indent="0" marL="0">
              <a:buNone/>
            </a:pPr>
            <a:r>
              <a:rPr lang="en-US" sz="1300" dirty="0">
                <a:solidFill>
                  <a:srgbClr val="17224A"/>
                </a:solidFill>
                <a:latin typeface="Calibri" pitchFamily="34" charset="0"/>
                <a:ea typeface="Calibri" pitchFamily="34" charset="-122"/>
                <a:cs typeface="Calibri" pitchFamily="34" charset="-120"/>
              </a:rPr>
              <a:t>Pooling leaves only sound below 276 Hz: bass, kick, loudness. We kept it so results stay comparable with the paper.</a:t>
            </a:r>
            <a:endParaRPr lang="en-US" sz="1300" dirty="0"/>
          </a:p>
        </p:txBody>
      </p:sp>
      <p:sp>
        <p:nvSpPr>
          <p:cNvPr id="11" name="Shape 8"/>
          <p:cNvSpPr/>
          <p:nvPr/>
        </p:nvSpPr>
        <p:spPr>
          <a:xfrm>
            <a:off x="4617720" y="1097280"/>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2" name="Shape 9"/>
          <p:cNvSpPr/>
          <p:nvPr/>
        </p:nvSpPr>
        <p:spPr>
          <a:xfrm>
            <a:off x="4800600" y="1280160"/>
            <a:ext cx="365760" cy="365760"/>
          </a:xfrm>
          <a:prstGeom prst="ellipse">
            <a:avLst/>
          </a:prstGeom>
          <a:solidFill>
            <a:srgbClr val="E4572E"/>
          </a:solidFill>
          <a:ln w="12700">
            <a:solidFill>
              <a:srgbClr val="E4572E"/>
            </a:solidFill>
            <a:prstDash val="solid"/>
          </a:ln>
        </p:spPr>
      </p:sp>
      <p:sp>
        <p:nvSpPr>
          <p:cNvPr id="13" name="Text 10"/>
          <p:cNvSpPr txBox="1"/>
          <p:nvPr/>
        </p:nvSpPr>
        <p:spPr>
          <a:xfrm>
            <a:off x="4800600" y="1280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1"/>
          <p:cNvSpPr txBox="1"/>
          <p:nvPr/>
        </p:nvSpPr>
        <p:spPr>
          <a:xfrm>
            <a:off x="5303520" y="1280160"/>
            <a:ext cx="3200400" cy="365760"/>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Loudness is a big part of it</a:t>
            </a:r>
            <a:endParaRPr lang="en-US" sz="1500" dirty="0"/>
          </a:p>
        </p:txBody>
      </p:sp>
      <p:sp>
        <p:nvSpPr>
          <p:cNvPr id="15" name="Text 12"/>
          <p:cNvSpPr txBox="1"/>
          <p:nvPr/>
        </p:nvSpPr>
        <p:spPr>
          <a:xfrm>
            <a:off x="4800600" y="1783080"/>
            <a:ext cx="3657600" cy="914400"/>
          </a:xfrm>
          <a:prstGeom prst="rect">
            <a:avLst/>
          </a:prstGeom>
          <a:noFill/>
          <a:ln/>
        </p:spPr>
        <p:txBody>
          <a:bodyPr wrap="square" lIns="0" tIns="0" rIns="0" bIns="0" rtlCol="0" anchor="t"/>
          <a:lstStyle/>
          <a:p>
            <a:pPr indent="0" marL="0">
              <a:buNone/>
            </a:pPr>
            <a:r>
              <a:rPr lang="en-US" sz="1300" dirty="0">
                <a:solidFill>
                  <a:srgbClr val="17224A"/>
                </a:solidFill>
                <a:latin typeface="Calibri" pitchFamily="34" charset="0"/>
                <a:ea typeface="Calibri" pitchFamily="34" charset="-122"/>
                <a:cs typeface="Calibri" pitchFamily="34" charset="-120"/>
              </a:rPr>
              <a:t>Loudness depends on mastering as much as composition. The latent chain follows it.</a:t>
            </a:r>
            <a:endParaRPr lang="en-US" sz="1300" dirty="0"/>
          </a:p>
        </p:txBody>
      </p:sp>
      <p:sp>
        <p:nvSpPr>
          <p:cNvPr id="16" name="Shape 13"/>
          <p:cNvSpPr/>
          <p:nvPr/>
        </p:nvSpPr>
        <p:spPr>
          <a:xfrm>
            <a:off x="457200" y="2880360"/>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7" name="Shape 14"/>
          <p:cNvSpPr/>
          <p:nvPr/>
        </p:nvSpPr>
        <p:spPr>
          <a:xfrm>
            <a:off x="640080" y="3063240"/>
            <a:ext cx="365760" cy="365760"/>
          </a:xfrm>
          <a:prstGeom prst="ellipse">
            <a:avLst/>
          </a:prstGeom>
          <a:solidFill>
            <a:srgbClr val="E4572E"/>
          </a:solidFill>
          <a:ln w="12700">
            <a:solidFill>
              <a:srgbClr val="E4572E"/>
            </a:solidFill>
            <a:prstDash val="solid"/>
          </a:ln>
        </p:spPr>
      </p:sp>
      <p:sp>
        <p:nvSpPr>
          <p:cNvPr id="18" name="Text 15"/>
          <p:cNvSpPr txBox="1"/>
          <p:nvPr/>
        </p:nvSpPr>
        <p:spPr>
          <a:xfrm>
            <a:off x="640080" y="3063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txBox="1"/>
          <p:nvPr/>
        </p:nvSpPr>
        <p:spPr>
          <a:xfrm>
            <a:off x="1143000" y="3063240"/>
            <a:ext cx="3200400" cy="365760"/>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Small test set</a:t>
            </a:r>
            <a:endParaRPr lang="en-US" sz="1500" dirty="0"/>
          </a:p>
        </p:txBody>
      </p:sp>
      <p:sp>
        <p:nvSpPr>
          <p:cNvPr id="20" name="Text 17"/>
          <p:cNvSpPr txBox="1"/>
          <p:nvPr/>
        </p:nvSpPr>
        <p:spPr>
          <a:xfrm>
            <a:off x="640080" y="3566160"/>
            <a:ext cx="3657600" cy="914400"/>
          </a:xfrm>
          <a:prstGeom prst="rect">
            <a:avLst/>
          </a:prstGeom>
          <a:noFill/>
          <a:ln/>
        </p:spPr>
        <p:txBody>
          <a:bodyPr wrap="square" lIns="0" tIns="0" rIns="0" bIns="0" rtlCol="0" anchor="t"/>
          <a:lstStyle/>
          <a:p>
            <a:pPr indent="0" marL="0">
              <a:buNone/>
            </a:pPr>
            <a:r>
              <a:rPr lang="en-US" sz="1300" dirty="0">
                <a:solidFill>
                  <a:srgbClr val="17224A"/>
                </a:solidFill>
                <a:latin typeface="Calibri" pitchFamily="34" charset="0"/>
                <a:ea typeface="Calibri" pitchFamily="34" charset="-122"/>
                <a:cs typeface="Calibri" pitchFamily="34" charset="-120"/>
              </a:rPr>
              <a:t>1,000 clips from 50 songs, one seed. Gaps of 2 to 3 points are within noise.</a:t>
            </a:r>
            <a:endParaRPr lang="en-US" sz="1300" dirty="0"/>
          </a:p>
        </p:txBody>
      </p:sp>
      <p:sp>
        <p:nvSpPr>
          <p:cNvPr id="21" name="Shape 18"/>
          <p:cNvSpPr/>
          <p:nvPr/>
        </p:nvSpPr>
        <p:spPr>
          <a:xfrm>
            <a:off x="4617720" y="2880360"/>
            <a:ext cx="4023360" cy="1645920"/>
          </a:xfrm>
          <a:prstGeom prst="roundRect">
            <a:avLst>
              <a:gd name="adj" fmla="val 555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2" name="Shape 19"/>
          <p:cNvSpPr/>
          <p:nvPr/>
        </p:nvSpPr>
        <p:spPr>
          <a:xfrm>
            <a:off x="4800600" y="3063240"/>
            <a:ext cx="365760" cy="365760"/>
          </a:xfrm>
          <a:prstGeom prst="ellipse">
            <a:avLst/>
          </a:prstGeom>
          <a:solidFill>
            <a:srgbClr val="E4572E"/>
          </a:solidFill>
          <a:ln w="12700">
            <a:solidFill>
              <a:srgbClr val="E4572E"/>
            </a:solidFill>
            <a:prstDash val="solid"/>
          </a:ln>
        </p:spPr>
      </p:sp>
      <p:sp>
        <p:nvSpPr>
          <p:cNvPr id="23" name="Text 20"/>
          <p:cNvSpPr txBox="1"/>
          <p:nvPr/>
        </p:nvSpPr>
        <p:spPr>
          <a:xfrm>
            <a:off x="4800600" y="30632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21"/>
          <p:cNvSpPr txBox="1"/>
          <p:nvPr/>
        </p:nvSpPr>
        <p:spPr>
          <a:xfrm>
            <a:off x="5303520" y="3063240"/>
            <a:ext cx="3200400" cy="365760"/>
          </a:xfrm>
          <a:prstGeom prst="rect">
            <a:avLst/>
          </a:prstGeom>
          <a:noFill/>
          <a:ln/>
        </p:spPr>
        <p:txBody>
          <a:bodyPr wrap="square" lIns="0" tIns="0" rIns="0" bIns="0" rtlCol="0" anchor="ctr"/>
          <a:lstStyle/>
          <a:p>
            <a:pPr indent="0" marL="0">
              <a:buNone/>
            </a:pPr>
            <a:r>
              <a:rPr lang="en-US" sz="1500" b="1" dirty="0">
                <a:solidFill>
                  <a:srgbClr val="0B1530"/>
                </a:solidFill>
                <a:latin typeface="Calibri" pitchFamily="34" charset="0"/>
                <a:ea typeface="Calibri" pitchFamily="34" charset="-122"/>
                <a:cs typeface="Calibri" pitchFamily="34" charset="-120"/>
              </a:rPr>
              <a:t>GTZAN faults</a:t>
            </a:r>
            <a:endParaRPr lang="en-US" sz="1500" dirty="0"/>
          </a:p>
        </p:txBody>
      </p:sp>
      <p:sp>
        <p:nvSpPr>
          <p:cNvPr id="25" name="Text 22"/>
          <p:cNvSpPr txBox="1"/>
          <p:nvPr/>
        </p:nvSpPr>
        <p:spPr>
          <a:xfrm>
            <a:off x="4800600" y="3566160"/>
            <a:ext cx="3657600" cy="914400"/>
          </a:xfrm>
          <a:prstGeom prst="rect">
            <a:avLst/>
          </a:prstGeom>
          <a:noFill/>
          <a:ln/>
        </p:spPr>
        <p:txBody>
          <a:bodyPr wrap="square" lIns="0" tIns="0" rIns="0" bIns="0" rtlCol="0" anchor="t"/>
          <a:lstStyle/>
          <a:p>
            <a:pPr indent="0" marL="0">
              <a:buNone/>
            </a:pPr>
            <a:r>
              <a:rPr lang="en-US" sz="1300" dirty="0">
                <a:solidFill>
                  <a:srgbClr val="17224A"/>
                </a:solidFill>
                <a:latin typeface="Calibri" pitchFamily="34" charset="0"/>
                <a:ea typeface="Calibri" pitchFamily="34" charset="-122"/>
                <a:cs typeface="Calibri" pitchFamily="34" charset="-120"/>
              </a:rPr>
              <a:t>We removed duplicate recordings, not same-artist songs or mislabelled ones.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530"/>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Conclusions</a:t>
            </a:r>
            <a:endParaRPr lang="en-US" sz="3000" dirty="0"/>
          </a:p>
        </p:txBody>
      </p:sp>
      <p:sp>
        <p:nvSpPr>
          <p:cNvPr id="3" name="Text 1"/>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C9D2F0"/>
                </a:solidFill>
                <a:latin typeface="Calibri" pitchFamily="34" charset="0"/>
                <a:ea typeface="Calibri" pitchFamily="34" charset="-122"/>
                <a:cs typeface="Calibri" pitchFamily="34" charset="-120"/>
              </a:rPr>
              <a:t>17</a:t>
            </a:r>
            <a:endParaRPr lang="en-US" sz="1000" dirty="0"/>
          </a:p>
        </p:txBody>
      </p:sp>
      <p:sp>
        <p:nvSpPr>
          <p:cNvPr id="4" name="Text 2"/>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C9D2F0"/>
                </a:solidFill>
                <a:latin typeface="Calibri" pitchFamily="34" charset="0"/>
                <a:ea typeface="Calibri" pitchFamily="34" charset="-122"/>
                <a:cs typeface="Calibri" pitchFamily="34" charset="-120"/>
              </a:rPr>
              <a:t>PES1UG24CS053 · PES1UG24CS051</a:t>
            </a:r>
            <a:endParaRPr lang="en-US" sz="1000" dirty="0"/>
          </a:p>
        </p:txBody>
      </p:sp>
      <p:sp>
        <p:nvSpPr>
          <p:cNvPr id="6" name="Shape 3"/>
          <p:cNvSpPr/>
          <p:nvPr/>
        </p:nvSpPr>
        <p:spPr>
          <a:xfrm>
            <a:off x="457200" y="1051560"/>
            <a:ext cx="8229600" cy="804672"/>
          </a:xfrm>
          <a:prstGeom prst="roundRect">
            <a:avLst>
              <a:gd name="adj" fmla="val 11364"/>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7" name="Shape 4"/>
          <p:cNvSpPr/>
          <p:nvPr/>
        </p:nvSpPr>
        <p:spPr>
          <a:xfrm>
            <a:off x="640080" y="1261872"/>
            <a:ext cx="384048" cy="384048"/>
          </a:xfrm>
          <a:prstGeom prst="ellipse">
            <a:avLst/>
          </a:prstGeom>
          <a:solidFill>
            <a:srgbClr val="F5A524"/>
          </a:solidFill>
          <a:ln w="12700">
            <a:solidFill>
              <a:srgbClr val="F5A524"/>
            </a:solidFill>
            <a:prstDash val="solid"/>
          </a:ln>
        </p:spPr>
      </p:sp>
      <p:sp>
        <p:nvSpPr>
          <p:cNvPr id="8" name="Text 5"/>
          <p:cNvSpPr txBox="1"/>
          <p:nvPr/>
        </p:nvSpPr>
        <p:spPr>
          <a:xfrm>
            <a:off x="640080" y="1261872"/>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234440" y="1097280"/>
            <a:ext cx="7315200" cy="713232"/>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Reproduced, and checked   </a:t>
            </a:r>
            <a:pPr indent="0" marL="0">
              <a:buNone/>
            </a:pPr>
            <a:r>
              <a:rPr lang="en-US" sz="1300" dirty="0">
                <a:solidFill>
                  <a:srgbClr val="FFFFFF"/>
                </a:solidFill>
                <a:latin typeface="Calibri" pitchFamily="34" charset="0"/>
                <a:ea typeface="Calibri" pitchFamily="34" charset="-122"/>
                <a:cs typeface="Calibri" pitchFamily="34" charset="-120"/>
              </a:rPr>
              <a:t>The paper's ranking holds, but its split is optimistic: unseen songs and duplicate removal lower the DSAE from 56.3% to 52.2%.</a:t>
            </a:r>
            <a:endParaRPr lang="en-US" sz="1300" dirty="0"/>
          </a:p>
        </p:txBody>
      </p:sp>
      <p:sp>
        <p:nvSpPr>
          <p:cNvPr id="10" name="Shape 7"/>
          <p:cNvSpPr/>
          <p:nvPr/>
        </p:nvSpPr>
        <p:spPr>
          <a:xfrm>
            <a:off x="457200" y="1956816"/>
            <a:ext cx="8229600" cy="804672"/>
          </a:xfrm>
          <a:prstGeom prst="roundRect">
            <a:avLst>
              <a:gd name="adj" fmla="val 11364"/>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640080" y="2167128"/>
            <a:ext cx="384048" cy="384048"/>
          </a:xfrm>
          <a:prstGeom prst="ellipse">
            <a:avLst/>
          </a:prstGeom>
          <a:solidFill>
            <a:srgbClr val="F5A524"/>
          </a:solidFill>
          <a:ln w="12700">
            <a:solidFill>
              <a:srgbClr val="F5A524"/>
            </a:solidFill>
            <a:prstDash val="solid"/>
          </a:ln>
        </p:spPr>
      </p:sp>
      <p:sp>
        <p:nvSpPr>
          <p:cNvPr id="12" name="Text 9"/>
          <p:cNvSpPr txBox="1"/>
          <p:nvPr/>
        </p:nvSpPr>
        <p:spPr>
          <a:xfrm>
            <a:off x="640080" y="2167128"/>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2</a:t>
            </a:r>
            <a:endParaRPr lang="en-US" sz="1400" dirty="0"/>
          </a:p>
        </p:txBody>
      </p:sp>
      <p:sp>
        <p:nvSpPr>
          <p:cNvPr id="13" name="Text 10"/>
          <p:cNvSpPr txBox="1"/>
          <p:nvPr/>
        </p:nvSpPr>
        <p:spPr>
          <a:xfrm>
            <a:off x="1234440" y="2002536"/>
            <a:ext cx="7315200" cy="713232"/>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Fixed memorisation   </a:t>
            </a:r>
            <a:pPr indent="0" marL="0">
              <a:buNone/>
            </a:pPr>
            <a:r>
              <a:rPr lang="en-US" sz="1300" dirty="0">
                <a:solidFill>
                  <a:srgbClr val="FFFFFF"/>
                </a:solidFill>
                <a:latin typeface="Calibri" pitchFamily="34" charset="0"/>
                <a:ea typeface="Calibri" pitchFamily="34" charset="-122"/>
                <a:cs typeface="Calibri" pitchFamily="34" charset="-120"/>
              </a:rPr>
              <a:t>Random crops lift unseen-song accuracy to 66.8%, with the same architecture, loss and compute.</a:t>
            </a:r>
            <a:endParaRPr lang="en-US" sz="1300" dirty="0"/>
          </a:p>
        </p:txBody>
      </p:sp>
      <p:sp>
        <p:nvSpPr>
          <p:cNvPr id="14" name="Shape 11"/>
          <p:cNvSpPr/>
          <p:nvPr/>
        </p:nvSpPr>
        <p:spPr>
          <a:xfrm>
            <a:off x="457200" y="2862072"/>
            <a:ext cx="8229600" cy="804672"/>
          </a:xfrm>
          <a:prstGeom prst="roundRect">
            <a:avLst>
              <a:gd name="adj" fmla="val 11364"/>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15" name="Shape 12"/>
          <p:cNvSpPr/>
          <p:nvPr/>
        </p:nvSpPr>
        <p:spPr>
          <a:xfrm>
            <a:off x="640080" y="3072384"/>
            <a:ext cx="384048" cy="384048"/>
          </a:xfrm>
          <a:prstGeom prst="ellipse">
            <a:avLst/>
          </a:prstGeom>
          <a:solidFill>
            <a:srgbClr val="F5A524"/>
          </a:solidFill>
          <a:ln w="12700">
            <a:solidFill>
              <a:srgbClr val="F5A524"/>
            </a:solidFill>
            <a:prstDash val="solid"/>
          </a:ln>
        </p:spPr>
      </p:sp>
      <p:sp>
        <p:nvSpPr>
          <p:cNvPr id="16" name="Text 13"/>
          <p:cNvSpPr txBox="1"/>
          <p:nvPr/>
        </p:nvSpPr>
        <p:spPr>
          <a:xfrm>
            <a:off x="640080" y="3072384"/>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3</a:t>
            </a:r>
            <a:endParaRPr lang="en-US" sz="1400" dirty="0"/>
          </a:p>
        </p:txBody>
      </p:sp>
      <p:sp>
        <p:nvSpPr>
          <p:cNvPr id="17" name="Text 14"/>
          <p:cNvSpPr txBox="1"/>
          <p:nvPr/>
        </p:nvSpPr>
        <p:spPr>
          <a:xfrm>
            <a:off x="1234440" y="2907792"/>
            <a:ext cx="7315200" cy="713232"/>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Value is the encoding   </a:t>
            </a:r>
            <a:pPr indent="0" marL="0">
              <a:buNone/>
            </a:pPr>
            <a:r>
              <a:rPr lang="en-US" sz="1300" dirty="0">
                <a:solidFill>
                  <a:srgbClr val="FFFFFF"/>
                </a:solidFill>
                <a:latin typeface="Calibri" pitchFamily="34" charset="0"/>
                <a:ea typeface="Calibri" pitchFamily="34" charset="-122"/>
                <a:cs typeface="Calibri" pitchFamily="34" charset="-120"/>
              </a:rPr>
              <a:t>A plain two-layer net matches the DSAE once trained properly; the DSAE gives encoding plus decoder.</a:t>
            </a:r>
            <a:endParaRPr lang="en-US" sz="1300" dirty="0"/>
          </a:p>
        </p:txBody>
      </p:sp>
      <p:sp>
        <p:nvSpPr>
          <p:cNvPr id="18" name="Shape 15"/>
          <p:cNvSpPr/>
          <p:nvPr/>
        </p:nvSpPr>
        <p:spPr>
          <a:xfrm>
            <a:off x="457200" y="3767328"/>
            <a:ext cx="8229600" cy="804672"/>
          </a:xfrm>
          <a:prstGeom prst="roundRect">
            <a:avLst>
              <a:gd name="adj" fmla="val 11364"/>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19" name="Shape 16"/>
          <p:cNvSpPr/>
          <p:nvPr/>
        </p:nvSpPr>
        <p:spPr>
          <a:xfrm>
            <a:off x="640080" y="3977640"/>
            <a:ext cx="384048" cy="384048"/>
          </a:xfrm>
          <a:prstGeom prst="ellipse">
            <a:avLst/>
          </a:prstGeom>
          <a:solidFill>
            <a:srgbClr val="F5A524"/>
          </a:solidFill>
          <a:ln w="12700">
            <a:solidFill>
              <a:srgbClr val="F5A524"/>
            </a:solidFill>
            <a:prstDash val="solid"/>
          </a:ln>
        </p:spPr>
      </p:sp>
      <p:sp>
        <p:nvSpPr>
          <p:cNvPr id="20" name="Text 17"/>
          <p:cNvSpPr txBox="1"/>
          <p:nvPr/>
        </p:nvSpPr>
        <p:spPr>
          <a:xfrm>
            <a:off x="640080" y="3977640"/>
            <a:ext cx="384048" cy="384048"/>
          </a:xfrm>
          <a:prstGeom prst="rect">
            <a:avLst/>
          </a:prstGeom>
          <a:noFill/>
          <a:ln/>
        </p:spPr>
        <p:txBody>
          <a:bodyPr wrap="square" lIns="0" tIns="0" rIns="0" bIns="0" rtlCol="0" anchor="ctr"/>
          <a:lstStyle/>
          <a:p>
            <a:pPr algn="ctr" indent="0" marL="0">
              <a:buNone/>
            </a:pPr>
            <a:r>
              <a:rPr lang="en-US" sz="1400" b="1" dirty="0">
                <a:solidFill>
                  <a:srgbClr val="0B1530"/>
                </a:solidFill>
                <a:latin typeface="Calibri" pitchFamily="34" charset="0"/>
                <a:ea typeface="Calibri" pitchFamily="34" charset="-122"/>
                <a:cs typeface="Calibri" pitchFamily="34" charset="-120"/>
              </a:rPr>
              <a:t>4</a:t>
            </a:r>
            <a:endParaRPr lang="en-US" sz="1400" dirty="0"/>
          </a:p>
        </p:txBody>
      </p:sp>
      <p:sp>
        <p:nvSpPr>
          <p:cNvPr id="21" name="Text 18"/>
          <p:cNvSpPr txBox="1"/>
          <p:nvPr/>
        </p:nvSpPr>
        <p:spPr>
          <a:xfrm>
            <a:off x="1234440" y="3813048"/>
            <a:ext cx="7315200" cy="713232"/>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Two new uses   </a:t>
            </a:r>
            <a:pPr indent="0" marL="0">
              <a:buNone/>
            </a:pPr>
            <a:r>
              <a:rPr lang="en-US" sz="1300" dirty="0">
                <a:solidFill>
                  <a:srgbClr val="FFFFFF"/>
                </a:solidFill>
                <a:latin typeface="Calibri" pitchFamily="34" charset="0"/>
                <a:ea typeface="Calibri" pitchFamily="34" charset="-122"/>
                <a:cs typeface="Calibri" pitchFamily="34" charset="-120"/>
              </a:rPr>
              <a:t>Genre morph shows a smooth, loudness-ordered latent chain; similar-song search finds the right genre 68% of the time.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530"/>
        </a:solidFill>
      </p:bgPr>
    </p:bg>
    <p:spTree>
      <p:nvGrpSpPr>
        <p:cNvPr id="1" name=""/>
        <p:cNvGrpSpPr/>
        <p:nvPr/>
      </p:nvGrpSpPr>
      <p:grpSpPr>
        <a:xfrm>
          <a:off x="0" y="0"/>
          <a:ext cx="0" cy="0"/>
          <a:chOff x="0" y="0"/>
          <a:chExt cx="0" cy="0"/>
        </a:xfrm>
      </p:grpSpPr>
      <p:sp>
        <p:nvSpPr>
          <p:cNvPr id="2" name="Text 0"/>
          <p:cNvSpPr txBox="1"/>
          <p:nvPr/>
        </p:nvSpPr>
        <p:spPr>
          <a:xfrm>
            <a:off x="8321040" y="4800600"/>
            <a:ext cx="365760" cy="228600"/>
          </a:xfrm>
          <a:prstGeom prst="rect">
            <a:avLst/>
          </a:prstGeom>
          <a:noFill/>
          <a:ln/>
        </p:spPr>
        <p:txBody>
          <a:bodyPr wrap="square" lIns="0" tIns="0" rIns="0" bIns="0" rtlCol="0" anchor="ctr"/>
          <a:lstStyle/>
          <a:p>
            <a:pPr algn="r" indent="0" marL="0">
              <a:buNone/>
            </a:pPr>
            <a:r>
              <a:rPr lang="en-US" sz="1000" dirty="0">
                <a:solidFill>
                  <a:srgbClr val="C9D2F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457200" y="4800600"/>
            <a:ext cx="3657600" cy="228600"/>
          </a:xfrm>
          <a:prstGeom prst="rect">
            <a:avLst/>
          </a:prstGeom>
          <a:noFill/>
          <a:ln/>
        </p:spPr>
        <p:txBody>
          <a:bodyPr wrap="square" lIns="0" tIns="0" rIns="0" bIns="0" rtlCol="0" anchor="ctr"/>
          <a:lstStyle/>
          <a:p>
            <a:pPr indent="0" marL="0">
              <a:buNone/>
            </a:pPr>
            <a:r>
              <a:rPr lang="en-US" sz="1000" dirty="0">
                <a:solidFill>
                  <a:srgbClr val="C9D2F0"/>
                </a:solidFill>
                <a:latin typeface="Calibri" pitchFamily="34" charset="0"/>
                <a:ea typeface="Calibri" pitchFamily="34" charset="-122"/>
                <a:cs typeface="Calibri" pitchFamily="34" charset="-120"/>
              </a:rPr>
              <a:t>PES1UG24CS053 · PES1UG24CS051</a:t>
            </a:r>
            <a:endParaRPr lang="en-US" sz="1000" dirty="0"/>
          </a:p>
        </p:txBody>
      </p:sp>
      <p:sp>
        <p:nvSpPr>
          <p:cNvPr id="5" name="Text 2"/>
          <p:cNvSpPr txBox="1"/>
          <p:nvPr/>
        </p:nvSpPr>
        <p:spPr>
          <a:xfrm>
            <a:off x="548640" y="1188720"/>
            <a:ext cx="8046720" cy="100584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Questions</a:t>
            </a:r>
            <a:endParaRPr lang="en-US" sz="4800" dirty="0"/>
          </a:p>
        </p:txBody>
      </p:sp>
      <p:sp>
        <p:nvSpPr>
          <p:cNvPr id="6" name="Text 3"/>
          <p:cNvSpPr txBox="1"/>
          <p:nvPr/>
        </p:nvSpPr>
        <p:spPr>
          <a:xfrm>
            <a:off x="548640" y="2286000"/>
            <a:ext cx="8046720" cy="457200"/>
          </a:xfrm>
          <a:prstGeom prst="rect">
            <a:avLst/>
          </a:prstGeom>
          <a:noFill/>
          <a:ln/>
        </p:spPr>
        <p:txBody>
          <a:bodyPr wrap="square" lIns="0" tIns="0" rIns="0" bIns="0" rtlCol="0" anchor="ctr"/>
          <a:lstStyle/>
          <a:p>
            <a:pPr indent="0" marL="0">
              <a:buNone/>
            </a:pPr>
            <a:r>
              <a:rPr lang="en-US" sz="1600" dirty="0">
                <a:solidFill>
                  <a:srgbClr val="F5A524"/>
                </a:solidFill>
                <a:latin typeface="Courier New" pitchFamily="34" charset="0"/>
                <a:ea typeface="Courier New" pitchFamily="34" charset="-122"/>
                <a:cs typeface="Courier New" pitchFamily="34" charset="-120"/>
              </a:rPr>
              <a:t>Live demo:  streamlit run app.py</a:t>
            </a:r>
            <a:endParaRPr lang="en-US" sz="1600" dirty="0"/>
          </a:p>
        </p:txBody>
      </p:sp>
      <p:sp>
        <p:nvSpPr>
          <p:cNvPr id="7" name="Text 4"/>
          <p:cNvSpPr txBox="1"/>
          <p:nvPr/>
        </p:nvSpPr>
        <p:spPr>
          <a:xfrm>
            <a:off x="548640" y="2788920"/>
            <a:ext cx="8046720" cy="365760"/>
          </a:xfrm>
          <a:prstGeom prst="rect">
            <a:avLst/>
          </a:prstGeom>
          <a:noFill/>
          <a:ln/>
        </p:spPr>
        <p:txBody>
          <a:bodyPr wrap="square" lIns="0" tIns="0" rIns="0" bIns="0" rtlCol="0" anchor="ctr"/>
          <a:lstStyle/>
          <a:p>
            <a:pPr indent="0" marL="0">
              <a:buNone/>
            </a:pPr>
            <a:r>
              <a:rPr lang="en-US" sz="1400" dirty="0">
                <a:solidFill>
                  <a:srgbClr val="C9D2F0"/>
                </a:solidFill>
                <a:latin typeface="Calibri" pitchFamily="34" charset="0"/>
                <a:ea typeface="Calibri" pitchFamily="34" charset="-122"/>
                <a:cs typeface="Calibri" pitchFamily="34" charset="-120"/>
              </a:rPr>
              <a:t>Code: github.com/Chunnu-Munnu/ML_Project</a:t>
            </a:r>
            <a:endParaRPr lang="en-US" sz="1400" dirty="0"/>
          </a:p>
        </p:txBody>
      </p:sp>
      <p:sp>
        <p:nvSpPr>
          <p:cNvPr id="8" name="Shape 5"/>
          <p:cNvSpPr/>
          <p:nvPr/>
        </p:nvSpPr>
        <p:spPr>
          <a:xfrm>
            <a:off x="548640" y="3474720"/>
            <a:ext cx="3840480" cy="822960"/>
          </a:xfrm>
          <a:prstGeom prst="roundRect">
            <a:avLst>
              <a:gd name="adj" fmla="val 11111"/>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9" name="Text 6"/>
          <p:cNvSpPr txBox="1"/>
          <p:nvPr/>
        </p:nvSpPr>
        <p:spPr>
          <a:xfrm>
            <a:off x="777240" y="3566160"/>
            <a:ext cx="34747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Amogh Sharma</a:t>
            </a:r>
            <a:endParaRPr lang="en-US" sz="1500" dirty="0"/>
          </a:p>
          <a:p>
            <a:pPr indent="0" marL="0">
              <a:buNone/>
            </a:pPr>
            <a:r>
              <a:rPr lang="en-US" sz="1500" dirty="0">
                <a:solidFill>
                  <a:srgbClr val="F5A524"/>
                </a:solidFill>
                <a:latin typeface="Calibri" pitchFamily="34" charset="0"/>
                <a:ea typeface="Calibri" pitchFamily="34" charset="-122"/>
                <a:cs typeface="Calibri" pitchFamily="34" charset="-120"/>
              </a:rPr>
              <a:t>PES1UG24CS053</a:t>
            </a:r>
            <a:endParaRPr lang="en-US" sz="1500" dirty="0"/>
          </a:p>
        </p:txBody>
      </p:sp>
      <p:sp>
        <p:nvSpPr>
          <p:cNvPr id="10" name="Shape 7"/>
          <p:cNvSpPr/>
          <p:nvPr/>
        </p:nvSpPr>
        <p:spPr>
          <a:xfrm>
            <a:off x="4663440" y="3474720"/>
            <a:ext cx="3840480" cy="822960"/>
          </a:xfrm>
          <a:prstGeom prst="roundRect">
            <a:avLst>
              <a:gd name="adj" fmla="val 11111"/>
            </a:avLst>
          </a:prstGeom>
          <a:solidFill>
            <a:srgbClr val="17224A"/>
          </a:solidFill>
          <a:ln w="12700">
            <a:solidFill>
              <a:srgbClr val="17224A"/>
            </a:solidFill>
            <a:prstDash val="solid"/>
          </a:ln>
          <a:effectLst>
            <a:outerShdw sx="100000" sy="100000" kx="0" ky="0" algn="bl" rotWithShape="0" blurRad="101600" dist="25400" dir="5400000">
              <a:srgbClr val="000000">
                <a:alpha val="12000"/>
              </a:srgbClr>
            </a:outerShdw>
          </a:effectLst>
        </p:spPr>
      </p:sp>
      <p:sp>
        <p:nvSpPr>
          <p:cNvPr id="11" name="Text 8"/>
          <p:cNvSpPr txBox="1"/>
          <p:nvPr/>
        </p:nvSpPr>
        <p:spPr>
          <a:xfrm>
            <a:off x="4892040" y="3566160"/>
            <a:ext cx="347472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Amartya Sinha</a:t>
            </a:r>
            <a:endParaRPr lang="en-US" sz="1500" dirty="0"/>
          </a:p>
          <a:p>
            <a:pPr indent="0" marL="0">
              <a:buNone/>
            </a:pPr>
            <a:r>
              <a:rPr lang="en-US" sz="1500" dirty="0">
                <a:solidFill>
                  <a:srgbClr val="F5A524"/>
                </a:solidFill>
                <a:latin typeface="Calibri" pitchFamily="34" charset="0"/>
                <a:ea typeface="Calibri" pitchFamily="34" charset="-122"/>
                <a:cs typeface="Calibri" pitchFamily="34" charset="-120"/>
              </a:rPr>
              <a:t>PES1UG24CS051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PES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Latent Feature Extraction for Musical Genres from Raw Audio</dc:title>
  <dc:subject>PptxGenJS Presentation</dc:subject>
  <dc:creator>Amogh Sharma, Amartya Sinha</dc:creator>
  <cp:lastModifiedBy>Amogh Sharma, Amartya Sinha</cp:lastModifiedBy>
  <cp:revision>1</cp:revision>
  <dcterms:created xsi:type="dcterms:W3CDTF">2026-10-27T03:25:16Z</dcterms:created>
  <dcterms:modified xsi:type="dcterms:W3CDTF">2026-10-27T03:25:16Z</dcterms:modified>
</cp:coreProperties>
</file>